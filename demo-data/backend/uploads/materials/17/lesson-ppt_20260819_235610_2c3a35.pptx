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822960" y="1554480"/>
            <a:ext cx="10058400" cy="128016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868680" y="2926080"/>
            <a:ext cx="8046720" cy="73152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TOC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800">
                <a:solidFill>
                  <a:srgbClr val="252F40"/>
                </a:solidFill>
                <a:latin typeface="Microsoft YaHei"/>
                <a:ea typeface="Microsoft YaHei"/>
              </a:rPr>
              <a:t>TOC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Body"/>
          <p:cNvSpPr>
            <a:spLocks noGrp="1"/>
          </p:cNvSpPr>
          <p:nvPr>
            <p:ph idx="1"/>
          </p:nvPr>
        </p:nvSpPr>
        <p:spPr>
          <a:xfrm>
            <a:off x="868680" y="1417320"/>
            <a:ext cx="10378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2" name="Picture Left"/>
          <p:cNvSpPr>
            <a:spLocks noGrp="1"/>
          </p:cNvSpPr>
          <p:nvPr>
            <p:ph type="pic" idx="2"/>
          </p:nvPr>
        </p:nvSpPr>
        <p:spPr>
          <a:xfrm>
            <a:off x="64008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11" name="Content Right"/>
          <p:cNvSpPr>
            <a:spLocks noGrp="1"/>
          </p:cNvSpPr>
          <p:nvPr>
            <p:ph idx="1"/>
          </p:nvPr>
        </p:nvSpPr>
        <p:spPr>
          <a:xfrm>
            <a:off x="5486400" y="1417320"/>
            <a:ext cx="5806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Right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Left"/>
          <p:cNvSpPr>
            <a:spLocks noGrp="1"/>
          </p:cNvSpPr>
          <p:nvPr>
            <p:ph idx="1"/>
          </p:nvPr>
        </p:nvSpPr>
        <p:spPr>
          <a:xfrm>
            <a:off x="731520" y="1417320"/>
            <a:ext cx="566928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Left</a:t>
            </a:r>
          </a:p>
        </p:txBody>
      </p:sp>
      <p:sp>
        <p:nvSpPr>
          <p:cNvPr id="12" name="Picture Right"/>
          <p:cNvSpPr>
            <a:spLocks noGrp="1"/>
          </p:cNvSpPr>
          <p:nvPr>
            <p:ph type="pic" idx="2"/>
          </p:nvPr>
        </p:nvSpPr>
        <p:spPr>
          <a:xfrm>
            <a:off x="694944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mmary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Summary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1097280" y="2011680"/>
            <a:ext cx="9875520" cy="100584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1463040" y="3154680"/>
            <a:ext cx="9144000" cy="64008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://localhost:5001/api/materials/104/download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defRPr sz="3000" b="1">
                <a:solidFill>
                  <a:srgbClr val="252F40"/>
                </a:solidFill>
                <a:latin typeface="Microsoft YaHei"/>
              </a:defRPr>
            </a:pPr>
            <a:r>
              <a:t>掌握物质的分类方法与分散系基本概念；理解离子反应的本质并熟练书写离子方程式；培养宏观辨识与微观探析的化学学科素养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27089"/>
                </a:solidFill>
                <a:latin typeface="Microsoft YaHei"/>
              </a:defRPr>
            </a:pPr>
            <a:r>
              <a:t>高中/高一/化学 | 第一章 化学反应的热效应 | 45分钟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情境导入：从生活分散系到微观世界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物质分类逻辑：树状法与交叉法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分散系本质差异与胶体特性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电解质电离机制：强与弱的微观博弈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离子反应发生的驱动力与微观条件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9748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离子方程式书写实战：四步标准化流程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常见易错点规避与正误判断策略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80060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知识网络构建与实际应用迁移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情境导入：从生活分散系到微观世界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播放科普短片《分散系与离子世界》，暂停于光束穿过液体画面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提问引导：外观相似的牛奶豆浆与硫酸铜溶液为何性质迥异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观察记录：请圈出视频中引发好奇的三个光学或状态现象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过渡设问：分散质颗粒大小如何决定其光学性质与导电能力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物质分类逻辑：树状法与交叉法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演示氯化钠多维度归属：纯净物至化合物至盐至钠盐盐酸盐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对比辨析：空气属于混合物还是纯净物，依据是什么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小组活动：完成交叉分类表填空，按状态组成导电性交叉标注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易错提醒：同一物质在不同维度下身份可重叠，单一维度内必须互斥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分散系本质差异与胶体特性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粒径标尺对照：溶液小于纳米胶体一至百纳米浊液大于百纳米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对比实验：激光笔照射氢氧化铁胶体与硫酸铜溶液记录光路差异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原理解析：胶体粒子对可见光产生散射形成明亮光路通道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思考题：胶体为何能保持介稳状态布朗运动与电荷排斥起何作用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电解质电离机制：强与弱的微观博弈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动画演示氯化钠晶体入水后水分子定向排列拉脱离子全过程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对比观察：醋酸仅部分解离存在电离平衡箭头体现动态特征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能量视角：水合过程释放能量克服晶格能实现微粒充分分散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概念辨析：单质与氧化物是否属于电解质准确界定边界在哪里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离子反应发生的驱动力与微观条件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核心本质：溶液中自由移动离子浓度发生显著降低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三大驱动力：难溶物沉淀挥发性气体弱电解质水弱酸弱碱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陷阱辨析：硫酸钠与氯化钾混合为何不发生实质化学反应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定量思维：结合溶度积常数与电离常数定性解释平衡移动方向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离子方程式书写实战：四步标准化流程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第一步写：配平完整化学方程式以氢氧化钡加硫酸为例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第二步拆：强酸强碱可溶盐拆为离子保留沉淀气体弱电解质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第三步删：消去方程式两边未参与反应的旁观离子简化表达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第四步查：核对原子守恒电荷守恒及物质聚集状态符号完整性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常见易错点规避与正误判断策略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高频陷阱：弱酸拆分漏写沉淀气体符号电荷不守恒与状态缺失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进阶挑战：少量二氧化碳通入氢氧化钠与过量情况产物如何切换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同桌互评：投影典型错题开展找茬式辩论指出具体违规条款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自检清单：拆得对不对删得干不干净查得严不严确保零失误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知识网络构建与实际应用迁移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脉络复盘：分类至分散系至电离至离子反应补全个人思维导图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工业应用：硫酸铝净水过程中的电离水解与胶体吸附沉降全程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医药制剂：血液透析依赖半透膜分离小分子离子与大分子蛋白质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素养落地：养成严谨求实态度用证据导向解释宏观实验现象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课后巩固与分层拓展任务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基础巩固：完成教材配套习题多元弱酸酸式根书写需附拆分依据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能力提升：查阅资料整理三种胶体应用实例用微观机制解释原理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拓展探究：利用家庭材料模拟酸碱中和与胶体形成拍摄解说视频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自查指引：对照知识点总结文档模板标记薄弱点制定补救计划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小游戏入口页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27089"/>
                </a:solidFill>
                <a:latin typeface="Microsoft YaHei"/>
              </a:defRPr>
            </a:pPr>
            <a:r>
              <a:t>扫码或点击链接下载并运行课堂互动小游戏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6583680" cy="356616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52F40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04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2F40"/>
                </a:solidFill>
                <a:latin typeface="Microsoft YaHei"/>
              </a:defRPr>
            </a:pPr>
            <a:r>
              <a:t>lesson-game_20260819_235610_ca357e.html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下载链接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46704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63D2"/>
                </a:solidFill>
                <a:latin typeface="Microsoft YaHei"/>
                <a:hlinkClick r:id="rId2"/>
              </a:rPr>
              <a:t>http://localhost:5001/api/materials/104/download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教师提示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2F40"/>
                </a:solidFill>
                <a:latin typeface="Microsoft YaHei"/>
              </a:defRPr>
            </a:pPr>
            <a:r>
              <a:t>建议先将 HTML 文件下载到本机，再双击打开进行课堂演示或课后练习。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828800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me_entry_qr_db37714c05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984248"/>
            <a:ext cx="2432304" cy="24323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79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2F40"/>
                </a:solidFill>
                <a:latin typeface="Microsoft YaHei"/>
              </a:defRPr>
            </a:pPr>
            <a:r>
              <a:t>扫码下载小游戏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0840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27089"/>
                </a:solidFill>
                <a:latin typeface="Microsoft YaHei"/>
              </a:defRPr>
            </a:pPr>
            <a:r>
              <a:t>如扫码受限，可直接点击左侧链接。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