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localhost:5001/api/materials/91/download" TargetMode="Externa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80015" y="4754880"/>
            <a:ext cx="2468880" cy="2468880"/>
          </a:xfrm>
          <a:prstGeom prst="ellipse">
            <a:avLst/>
          </a:prstGeom>
          <a:solidFill>
            <a:srgbClr val="FF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82722"/>
                </a:solidFill>
                <a:latin typeface="Microsoft YaHei"/>
              </a:defRPr>
            </a:pPr>
            <a:r>
              <a:t>物质的量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A6354"/>
                </a:solidFill>
                <a:latin typeface="Microsoft YaHei"/>
              </a:defRPr>
            </a:pPr>
            <a:r>
              <a:t>高中/高一/化学 | 第一章 化学反应的热效应 | 45分钟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82722"/>
                </a:solidFill>
                <a:latin typeface="Microsoft YaHei"/>
              </a:defRPr>
            </a:pPr>
            <a: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713232" cy="493776"/>
          </a:xfrm>
          <a:prstGeom prst="round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2763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82722"/>
                </a:solidFill>
                <a:latin typeface="Microsoft YaHei"/>
              </a:defRPr>
            </a:pPr>
            <a:r>
              <a:t>为什么需要‘物质的量’？——认知冲突唤醒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97480"/>
            <a:ext cx="713232" cy="493776"/>
          </a:xfrm>
          <a:prstGeom prst="round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67919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82722"/>
                </a:solidFill>
                <a:latin typeface="Microsoft YaHei"/>
              </a:defRPr>
            </a:pPr>
            <a:r>
              <a:t>为什么需要‘物质的量’？——认知冲突唤醒（续…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49039"/>
            <a:ext cx="713232" cy="493776"/>
          </a:xfrm>
          <a:prstGeom prst="round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73075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82722"/>
                </a:solidFill>
                <a:latin typeface="Microsoft YaHei"/>
              </a:defRPr>
            </a:pPr>
            <a:r>
              <a:t>物质的量：化学的‘基本物理量’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00600"/>
            <a:ext cx="713232" cy="493776"/>
          </a:xfrm>
          <a:prstGeom prst="round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78231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82722"/>
                </a:solidFill>
                <a:latin typeface="Microsoft YaHei"/>
              </a:defRPr>
            </a:pPr>
            <a:r>
              <a:t>换算链路图：四维联动模型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45920"/>
            <a:ext cx="713232" cy="493776"/>
          </a:xfrm>
          <a:prstGeom prst="round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62763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82722"/>
                </a:solidFill>
                <a:latin typeface="Microsoft YaHei"/>
              </a:defRPr>
            </a:pPr>
            <a:r>
              <a:t>经典案例1：气体摩尔体积的陷阱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697480"/>
            <a:ext cx="713232" cy="493776"/>
          </a:xfrm>
          <a:prstGeom prst="round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67919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82722"/>
                </a:solidFill>
                <a:latin typeface="Microsoft YaHei"/>
              </a:defRPr>
            </a:pPr>
            <a:r>
              <a:t>经典案例2：溶液浓度计算中的单位陷阱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749039"/>
            <a:ext cx="713232" cy="493776"/>
          </a:xfrm>
          <a:prstGeom prst="round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73075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82722"/>
                </a:solidFill>
                <a:latin typeface="Microsoft YaHei"/>
              </a:defRPr>
            </a:pPr>
            <a:r>
              <a:t>分层练习：精准诊断与即时反馈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800600"/>
            <a:ext cx="713232" cy="493776"/>
          </a:xfrm>
          <a:prstGeom prst="round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78231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82722"/>
                </a:solidFill>
                <a:latin typeface="Microsoft YaHei"/>
              </a:defRPr>
            </a:pPr>
            <a:r>
              <a:t>迁移应用：从实验室到生活中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FF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A5D3B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82722"/>
                </a:solidFill>
                <a:latin typeface="Microsoft YaHei"/>
              </a:defRPr>
            </a:pPr>
            <a:r>
              <a:t>为什么需要‘物质的量’？——认知冲突唤醒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一打鸡蛋=12个，快速统计小物体数量</a:t>
            </a:r>
          </a:p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地球沙粒≈10²⁴颗，无法逐个计数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FF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A5D3B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82722"/>
                </a:solidFill>
                <a:latin typeface="Microsoft YaHei"/>
              </a:defRPr>
            </a:pPr>
            <a:r>
              <a:t>为什么需要‘物质的量’？——认知冲突唤醒（续）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一个水分子太小，如何知道一杯水有多少？</a:t>
            </a:r>
          </a:p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教师提问：‘如果要数1 mol 氢原子，有多大？’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FF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A5D3B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82722"/>
                </a:solidFill>
                <a:latin typeface="Microsoft YaHei"/>
              </a:defRPr>
            </a:pPr>
            <a:r>
              <a:t>物质的量：化学的‘基本物理量’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定义：表示含有一定数目粒子的集合体</a:t>
            </a:r>
          </a:p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单位：摩尔（mol），1 mol = 6.02×10²³个微粒</a:t>
            </a:r>
          </a:p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阿伏伽德罗常数：NA = 6.02×10²³ mol⁻¹</a:t>
            </a:r>
          </a:p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强调：摩尔≠克，也不等于粒子数本身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FF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A5D3B"/>
                </a:solidFill>
                <a:latin typeface="Microsoft Ya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82722"/>
                </a:solidFill>
                <a:latin typeface="Microsoft YaHei"/>
              </a:defRPr>
            </a:pPr>
            <a:r>
              <a:t>换算链路图：四维联动模型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n = N / NA：微粒数 ↔ 物质的量</a:t>
            </a:r>
          </a:p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n = m / M：质量 ↔ 物质的量（摩尔质量M）</a:t>
            </a:r>
          </a:p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n = V / Vₘ（STP）：气体体积 ↔ 物质的量</a:t>
            </a:r>
          </a:p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n = c × V（L）：浓度与体积 ↔ 物质的量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FF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A5D3B"/>
                </a:solidFill>
                <a:latin typeface="Microsoft Ya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82722"/>
                </a:solidFill>
                <a:latin typeface="Microsoft YaHei"/>
              </a:defRPr>
            </a:pPr>
            <a:r>
              <a:t>经典案例1：气体摩尔体积的陷阱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标准状况（STP），0°C，建议结合“经典案例1：气体摩尔体积的陷阱”补充一个课堂例子或提问点，帮助学生快速理解。</a:t>
            </a:r>
          </a:p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错误示例：在25℃下直接用22.4 L/mol计算</a:t>
            </a:r>
          </a:p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情景卡任务，11.2 L SO₂（STP）需多少mol Ca(OH)…</a:t>
            </a:r>
          </a:p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解题口诀：一看条件，二定公式，三查单位，四算结果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FF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A5D3B"/>
                </a:solidFill>
                <a:latin typeface="Microsoft Ya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82722"/>
                </a:solidFill>
                <a:latin typeface="Microsoft YaHei"/>
              </a:defRPr>
            </a:pPr>
            <a:r>
              <a:t>经典案例2：溶液浓度计算中的单位陷阱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物质的量浓度：c = n / V（单位：mol/L）</a:t>
            </a:r>
          </a:p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典型错误：200 mL未换算为0.2 L导致结果偏差</a:t>
            </a:r>
          </a:p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挑战题，0.25 mol/L NaOH 200 mL中和0.1 mo…</a:t>
            </a:r>
          </a:p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关键步骤：先求所需NaOH物质的量，再求体积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FF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A5D3B"/>
                </a:solidFill>
                <a:latin typeface="Microsoft Ya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82722"/>
                </a:solidFill>
                <a:latin typeface="Microsoft YaHei"/>
              </a:defRPr>
            </a:pPr>
            <a:r>
              <a:t>分层练习：精准诊断与即时反馈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A卡（基础）：2 mol O₂含多少氧原子？</a:t>
            </a:r>
          </a:p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B卡（中等）：44.8 L N₂（STP）含多少氮分子？</a:t>
            </a:r>
          </a:p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C卡（挑战），100 mL 0.5 mol/L KCl稀释至500 …</a:t>
            </a:r>
          </a:p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学生自选难度，独立完成，教师巡堂标记典型错误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FF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A5D3B"/>
                </a:solidFill>
                <a:latin typeface="Microsoft Ya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82722"/>
                </a:solidFill>
                <a:latin typeface="Microsoft YaHei"/>
              </a:defRPr>
            </a:pPr>
            <a:r>
              <a:t>迁移应用：从实验室到生活中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药品配制：一片阿司匹林约含1.7×10⁻³ mol乙酰水杨酸</a:t>
            </a:r>
          </a:p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化肥施用：每亩施用10 kg尿素，相当于多少mol氮元素？</a:t>
            </a:r>
          </a:p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饮料标签解读：一瓶可乐含糖约0.3 mol，每日摄入超限风险</a:t>
            </a:r>
          </a:p>
          <a:p>
            <a:pPr>
              <a:spcAft>
                <a:spcPts val="1000"/>
              </a:spcAft>
              <a:defRPr sz="1700">
                <a:solidFill>
                  <a:srgbClr val="482722"/>
                </a:solidFill>
                <a:latin typeface="Microsoft YaHei"/>
              </a:defRPr>
            </a:pPr>
            <a:r>
              <a:t>• 设计任务，配制100 mL 0.2 mol/L CuSO₄溶液的操作…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FF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A5D3B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82722"/>
                </a:solidFill>
                <a:latin typeface="Microsoft YaHei"/>
              </a:defRPr>
            </a:pPr>
            <a:r>
              <a:t>本课核心回顾与易错点清单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5074920" cy="1463040"/>
          </a:xfrm>
          <a:prstGeom prst="roundRect">
            <a:avLst/>
          </a:prstGeom>
          <a:solidFill>
            <a:srgbClr val="FFF3E9"/>
          </a:solidFill>
          <a:ln>
            <a:solidFill>
              <a:srgbClr val="FFD9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482722"/>
                </a:solidFill>
                <a:latin typeface="Microsoft YaHei"/>
              </a:defRPr>
            </a:pPr>
            <a:r>
              <a:t>物质的量是独立物理量，单位为摩尔（mol）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074920" cy="1463040"/>
          </a:xfrm>
          <a:prstGeom prst="roundRect">
            <a:avLst/>
          </a:prstGeom>
          <a:solidFill>
            <a:srgbClr val="FFF3E9"/>
          </a:solidFill>
          <a:ln>
            <a:solidFill>
              <a:srgbClr val="FFD9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482722"/>
                </a:solidFill>
                <a:latin typeface="Microsoft YaHei"/>
              </a:defRPr>
            </a:pPr>
            <a:r>
              <a:t>阿伏伽德罗常数NA = 6.02×10²³ mol⁻¹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49039"/>
            <a:ext cx="5074920" cy="1463040"/>
          </a:xfrm>
          <a:prstGeom prst="roundRect">
            <a:avLst/>
          </a:prstGeom>
          <a:solidFill>
            <a:srgbClr val="FFF3E9"/>
          </a:solidFill>
          <a:ln>
            <a:solidFill>
              <a:srgbClr val="FFD9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482722"/>
                </a:solidFill>
                <a:latin typeface="Microsoft YaHei"/>
              </a:defRPr>
            </a:pPr>
            <a:r>
              <a:t>气体体积换算必须在标准状况下使用22.4 L/mol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074920" cy="1463040"/>
          </a:xfrm>
          <a:prstGeom prst="roundRect">
            <a:avLst/>
          </a:prstGeom>
          <a:solidFill>
            <a:srgbClr val="FFF3E9"/>
          </a:solidFill>
          <a:ln>
            <a:solidFill>
              <a:srgbClr val="FFD9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482722"/>
                </a:solidFill>
                <a:latin typeface="Microsoft YaHei"/>
              </a:defRPr>
            </a:pPr>
            <a:r>
              <a:t>溶液浓度计算务必统一单位：mL → L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FF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A5D3B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F26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80015" y="4754880"/>
            <a:ext cx="2468880" cy="2468880"/>
          </a:xfrm>
          <a:prstGeom prst="ellipse">
            <a:avLst/>
          </a:prstGeom>
          <a:solidFill>
            <a:srgbClr val="FF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82722"/>
                </a:solidFill>
                <a:latin typeface="Microsoft YaHei"/>
              </a:defRPr>
            </a:pPr>
            <a:r>
              <a:t>小游戏入口页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6354"/>
                </a:solidFill>
                <a:latin typeface="Microsoft YaHei"/>
              </a:defRPr>
            </a:pPr>
            <a:r>
              <a:t>扫码或点击链接下载并运行课堂互动小游戏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583680" cy="3566160"/>
          </a:xfrm>
          <a:prstGeom prst="roundRect">
            <a:avLst/>
          </a:prstGeom>
          <a:solidFill>
            <a:srgbClr val="FFF3E9"/>
          </a:solidFill>
          <a:ln>
            <a:solidFill>
              <a:srgbClr val="FFD9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482722"/>
                </a:solidFill>
                <a:latin typeface="Microsoft Ya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6354"/>
                </a:solidFill>
                <a:latin typeface="Microsoft YaHei"/>
              </a:defRPr>
            </a:pPr>
            <a:r>
              <a:t>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048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82722"/>
                </a:solidFill>
                <a:latin typeface="Microsoft YaHei"/>
              </a:defRPr>
            </a:pPr>
            <a:r>
              <a:t>lesson-game_20260427_210420_f964f0.html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6354"/>
                </a:solidFill>
                <a:latin typeface="Microsoft YaHei"/>
              </a:defRPr>
            </a:pPr>
            <a:r>
              <a:t>下载链接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46704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6838"/>
                </a:solidFill>
                <a:latin typeface="Microsoft YaHei"/>
                <a:hlinkClick r:id="rId2"/>
              </a:rPr>
              <a:t>http://localhost:5001/api/materials/91/download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17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6354"/>
                </a:solidFill>
                <a:latin typeface="Microsoft YaHei"/>
              </a:defRPr>
            </a:pPr>
            <a:r>
              <a:t>教师提示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92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82722"/>
                </a:solidFill>
                <a:latin typeface="Microsoft YaHei"/>
              </a:defRPr>
            </a:pPr>
            <a:r>
              <a:t>建议先将 HTML 文件下载到本机，再双击打开进行课堂演示或课后练习。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828800"/>
            <a:ext cx="27432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FFD9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ame_entry_qr_d218d838c9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984248"/>
            <a:ext cx="2432304" cy="24323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55279" y="47548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82722"/>
                </a:solidFill>
                <a:latin typeface="Microsoft YaHei"/>
              </a:defRPr>
            </a:pPr>
            <a:r>
              <a:t>扫码下载小游戏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508406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6354"/>
                </a:solidFill>
                <a:latin typeface="Microsoft YaHei"/>
              </a:defRPr>
            </a:pPr>
            <a:r>
              <a:t>如扫码受限，可直接点击左侧链接。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FFD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A5D3B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