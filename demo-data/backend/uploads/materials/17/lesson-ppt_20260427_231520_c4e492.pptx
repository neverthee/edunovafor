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/>
          <p:cNvSpPr>
            <a:spLocks noGrp="1"/>
          </p:cNvSpPr>
          <p:nvPr>
            <p:ph type="ctrTitle" idx="0"/>
          </p:nvPr>
        </p:nvSpPr>
        <p:spPr>
          <a:xfrm>
            <a:off x="822960" y="1554480"/>
            <a:ext cx="10058400" cy="1280160"/>
          </a:xfrm>
          <a:prstGeom prst="rect">
            <a:avLst/>
          </a:prstGeom>
        </p:spPr>
        <p:txBody>
          <a:bodyPr wrap="square" rtlCol="0"/>
          <a:lstStyle/>
          <a:p>
            <a:pPr algn="l"/>
            <a:r>
              <a:rPr lang="zh-CN" altLang="en-US" b="1" sz="3000">
                <a:solidFill>
                  <a:srgbClr val="252F40"/>
                </a:solidFill>
                <a:latin typeface="Microsoft YaHei"/>
                <a:ea typeface="Microsoft YaHei"/>
              </a:rPr>
              <a:t>Title</a:t>
            </a:r>
          </a:p>
        </p:txBody>
      </p:sp>
      <p:sp>
        <p:nvSpPr>
          <p:cNvPr id="11" name="Subtitle"/>
          <p:cNvSpPr>
            <a:spLocks noGrp="1"/>
          </p:cNvSpPr>
          <p:nvPr>
            <p:ph type="subTitle" idx="1"/>
          </p:nvPr>
        </p:nvSpPr>
        <p:spPr>
          <a:xfrm>
            <a:off x="868680" y="2926080"/>
            <a:ext cx="8046720" cy="731520"/>
          </a:xfrm>
          <a:prstGeom prst="rect">
            <a:avLst/>
          </a:prstGeom>
        </p:spPr>
        <p:txBody>
          <a:bodyPr wrap="square" rtlCol="0"/>
          <a:lstStyle/>
          <a:p>
            <a:pPr algn="l"/>
            <a:r>
              <a:rPr lang="zh-CN" altLang="en-US" sz="1800">
                <a:solidFill>
                  <a:srgbClr val="627089"/>
                </a:solidFill>
                <a:latin typeface="Microsoft YaHei"/>
                <a:ea typeface="Microsoft YaHei"/>
              </a:rPr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/>
          <p:cNvSpPr>
            <a:spLocks noGrp="1"/>
          </p:cNvSpPr>
          <p:nvPr>
            <p:ph type="title" idx="0"/>
          </p:nvPr>
        </p:nvSpPr>
        <p:spPr>
          <a:xfrm>
            <a:off x="822960" y="502920"/>
            <a:ext cx="8138160" cy="640080"/>
          </a:xfrm>
          <a:prstGeom prst="rect">
            <a:avLst/>
          </a:prstGeom>
        </p:spPr>
        <p:txBody>
          <a:bodyPr wrap="square" rtlCol="0"/>
          <a:lstStyle/>
          <a:p>
            <a:r>
              <a:rPr lang="zh-CN" altLang="en-US" b="1" sz="2800">
                <a:solidFill>
                  <a:srgbClr val="252F40"/>
                </a:solidFill>
                <a:latin typeface="Microsoft YaHei"/>
                <a:ea typeface="Microsoft YaHei"/>
              </a:rPr>
              <a:t>Title</a:t>
            </a:r>
          </a:p>
        </p:txBody>
      </p:sp>
      <p:sp>
        <p:nvSpPr>
          <p:cNvPr id="11" name="TOC Body"/>
          <p:cNvSpPr>
            <a:spLocks noGrp="1"/>
          </p:cNvSpPr>
          <p:nvPr>
            <p:ph idx="1"/>
          </p:nvPr>
        </p:nvSpPr>
        <p:spPr>
          <a:xfrm>
            <a:off x="822960" y="1463040"/>
            <a:ext cx="10424160" cy="4572000"/>
          </a:xfrm>
          <a:prstGeom prst="rect">
            <a:avLst/>
          </a:prstGeom>
        </p:spPr>
        <p:txBody>
          <a:bodyPr wrap="square" rtlCol="0"/>
          <a:lstStyle/>
          <a:p>
            <a:r>
              <a:rPr lang="zh-CN" altLang="en-US" sz="1800">
                <a:solidFill>
                  <a:srgbClr val="252F40"/>
                </a:solidFill>
                <a:latin typeface="Microsoft YaHei"/>
                <a:ea typeface="Microsoft YaHei"/>
              </a:rPr>
              <a:t>TOC Body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ntent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/>
          <p:cNvSpPr>
            <a:spLocks noGrp="1"/>
          </p:cNvSpPr>
          <p:nvPr>
            <p:ph type="title" idx="0"/>
          </p:nvPr>
        </p:nvSpPr>
        <p:spPr>
          <a:xfrm>
            <a:off x="822960" y="502920"/>
            <a:ext cx="8138160" cy="640080"/>
          </a:xfrm>
          <a:prstGeom prst="rect">
            <a:avLst/>
          </a:prstGeom>
        </p:spPr>
        <p:txBody>
          <a:bodyPr wrap="square" rtlCol="0"/>
          <a:lstStyle/>
          <a:p>
            <a:r>
              <a:rPr lang="zh-CN" altLang="en-US" b="1" sz="2800">
                <a:solidFill>
                  <a:srgbClr val="252F40"/>
                </a:solidFill>
                <a:latin typeface="Microsoft YaHei"/>
                <a:ea typeface="Microsoft YaHei"/>
              </a:rPr>
              <a:t>Title</a:t>
            </a:r>
          </a:p>
        </p:txBody>
      </p:sp>
      <p:sp>
        <p:nvSpPr>
          <p:cNvPr id="11" name="Content Body"/>
          <p:cNvSpPr>
            <a:spLocks noGrp="1"/>
          </p:cNvSpPr>
          <p:nvPr>
            <p:ph idx="1"/>
          </p:nvPr>
        </p:nvSpPr>
        <p:spPr>
          <a:xfrm>
            <a:off x="868680" y="1417320"/>
            <a:ext cx="10378440" cy="4114800"/>
          </a:xfrm>
          <a:prstGeom prst="rect">
            <a:avLst/>
          </a:prstGeom>
        </p:spPr>
        <p:txBody>
          <a:bodyPr wrap="square" rtlCol="0"/>
          <a:lstStyle/>
          <a:p>
            <a:r>
              <a:rPr lang="zh-CN" altLang="en-US" sz="1700">
                <a:solidFill>
                  <a:srgbClr val="252F40"/>
                </a:solidFill>
                <a:latin typeface="Microsoft YaHei"/>
                <a:ea typeface="Microsoft YaHei"/>
              </a:rPr>
              <a:t>Content Body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ntent_img_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/>
          <p:cNvSpPr>
            <a:spLocks noGrp="1"/>
          </p:cNvSpPr>
          <p:nvPr>
            <p:ph type="title" idx="0"/>
          </p:nvPr>
        </p:nvSpPr>
        <p:spPr>
          <a:xfrm>
            <a:off x="822960" y="502920"/>
            <a:ext cx="8138160" cy="640080"/>
          </a:xfrm>
          <a:prstGeom prst="rect">
            <a:avLst/>
          </a:prstGeom>
        </p:spPr>
        <p:txBody>
          <a:bodyPr wrap="square" rtlCol="0"/>
          <a:lstStyle/>
          <a:p>
            <a:r>
              <a:rPr lang="zh-CN" altLang="en-US" b="1" sz="2800">
                <a:solidFill>
                  <a:srgbClr val="252F40"/>
                </a:solidFill>
                <a:latin typeface="Microsoft YaHei"/>
                <a:ea typeface="Microsoft YaHei"/>
              </a:rPr>
              <a:t>Title</a:t>
            </a:r>
          </a:p>
        </p:txBody>
      </p:sp>
      <p:sp>
        <p:nvSpPr>
          <p:cNvPr id="12" name="Picture Left"/>
          <p:cNvSpPr>
            <a:spLocks noGrp="1"/>
          </p:cNvSpPr>
          <p:nvPr>
            <p:ph type="pic" idx="2"/>
          </p:nvPr>
        </p:nvSpPr>
        <p:spPr>
          <a:xfrm>
            <a:off x="640080" y="1417320"/>
            <a:ext cx="4572000" cy="384048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11" name="Content Right"/>
          <p:cNvSpPr>
            <a:spLocks noGrp="1"/>
          </p:cNvSpPr>
          <p:nvPr>
            <p:ph idx="1"/>
          </p:nvPr>
        </p:nvSpPr>
        <p:spPr>
          <a:xfrm>
            <a:off x="5486400" y="1417320"/>
            <a:ext cx="5806440" cy="4114800"/>
          </a:xfrm>
          <a:prstGeom prst="rect">
            <a:avLst/>
          </a:prstGeom>
        </p:spPr>
        <p:txBody>
          <a:bodyPr wrap="square" rtlCol="0"/>
          <a:lstStyle/>
          <a:p>
            <a:r>
              <a:rPr lang="zh-CN" altLang="en-US" sz="1700">
                <a:solidFill>
                  <a:srgbClr val="252F40"/>
                </a:solidFill>
                <a:latin typeface="Microsoft YaHei"/>
                <a:ea typeface="Microsoft YaHei"/>
              </a:rPr>
              <a:t>Content Right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ntent_img_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/>
          <p:cNvSpPr>
            <a:spLocks noGrp="1"/>
          </p:cNvSpPr>
          <p:nvPr>
            <p:ph type="title" idx="0"/>
          </p:nvPr>
        </p:nvSpPr>
        <p:spPr>
          <a:xfrm>
            <a:off x="822960" y="502920"/>
            <a:ext cx="8138160" cy="640080"/>
          </a:xfrm>
          <a:prstGeom prst="rect">
            <a:avLst/>
          </a:prstGeom>
        </p:spPr>
        <p:txBody>
          <a:bodyPr wrap="square" rtlCol="0"/>
          <a:lstStyle/>
          <a:p>
            <a:r>
              <a:rPr lang="zh-CN" altLang="en-US" b="1" sz="2800">
                <a:solidFill>
                  <a:srgbClr val="252F40"/>
                </a:solidFill>
                <a:latin typeface="Microsoft YaHei"/>
                <a:ea typeface="Microsoft YaHei"/>
              </a:rPr>
              <a:t>Title</a:t>
            </a:r>
          </a:p>
        </p:txBody>
      </p:sp>
      <p:sp>
        <p:nvSpPr>
          <p:cNvPr id="11" name="Content Left"/>
          <p:cNvSpPr>
            <a:spLocks noGrp="1"/>
          </p:cNvSpPr>
          <p:nvPr>
            <p:ph idx="1"/>
          </p:nvPr>
        </p:nvSpPr>
        <p:spPr>
          <a:xfrm>
            <a:off x="731520" y="1417320"/>
            <a:ext cx="5669280" cy="4114800"/>
          </a:xfrm>
          <a:prstGeom prst="rect">
            <a:avLst/>
          </a:prstGeom>
        </p:spPr>
        <p:txBody>
          <a:bodyPr wrap="square" rtlCol="0"/>
          <a:lstStyle/>
          <a:p>
            <a:r>
              <a:rPr lang="zh-CN" altLang="en-US" sz="1700">
                <a:solidFill>
                  <a:srgbClr val="252F40"/>
                </a:solidFill>
                <a:latin typeface="Microsoft YaHei"/>
                <a:ea typeface="Microsoft YaHei"/>
              </a:rPr>
              <a:t>Content Left</a:t>
            </a:r>
          </a:p>
        </p:txBody>
      </p:sp>
      <p:sp>
        <p:nvSpPr>
          <p:cNvPr id="12" name="Picture Right"/>
          <p:cNvSpPr>
            <a:spLocks noGrp="1"/>
          </p:cNvSpPr>
          <p:nvPr>
            <p:ph type="pic" idx="2"/>
          </p:nvPr>
        </p:nvSpPr>
        <p:spPr>
          <a:xfrm>
            <a:off x="6949440" y="1417320"/>
            <a:ext cx="4572000" cy="384048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/>
          <p:cNvSpPr>
            <a:spLocks noGrp="1"/>
          </p:cNvSpPr>
          <p:nvPr>
            <p:ph type="title" idx="0"/>
          </p:nvPr>
        </p:nvSpPr>
        <p:spPr>
          <a:xfrm>
            <a:off x="822960" y="502920"/>
            <a:ext cx="8138160" cy="640080"/>
          </a:xfrm>
          <a:prstGeom prst="rect">
            <a:avLst/>
          </a:prstGeom>
        </p:spPr>
        <p:txBody>
          <a:bodyPr wrap="square" rtlCol="0"/>
          <a:lstStyle/>
          <a:p>
            <a:r>
              <a:rPr lang="zh-CN" altLang="en-US" b="1" sz="2800">
                <a:solidFill>
                  <a:srgbClr val="252F40"/>
                </a:solidFill>
                <a:latin typeface="Microsoft YaHei"/>
                <a:ea typeface="Microsoft YaHei"/>
              </a:rPr>
              <a:t>Title</a:t>
            </a:r>
          </a:p>
        </p:txBody>
      </p:sp>
      <p:sp>
        <p:nvSpPr>
          <p:cNvPr id="11" name="Summary Body"/>
          <p:cNvSpPr>
            <a:spLocks noGrp="1"/>
          </p:cNvSpPr>
          <p:nvPr>
            <p:ph idx="1"/>
          </p:nvPr>
        </p:nvSpPr>
        <p:spPr>
          <a:xfrm>
            <a:off x="822960" y="1463040"/>
            <a:ext cx="10424160" cy="4572000"/>
          </a:xfrm>
          <a:prstGeom prst="rect">
            <a:avLst/>
          </a:prstGeom>
        </p:spPr>
        <p:txBody>
          <a:bodyPr wrap="square" rtlCol="0"/>
          <a:lstStyle/>
          <a:p>
            <a:r>
              <a:rPr lang="zh-CN" altLang="en-US" sz="1700">
                <a:solidFill>
                  <a:srgbClr val="252F40"/>
                </a:solidFill>
                <a:latin typeface="Microsoft YaHei"/>
                <a:ea typeface="Microsoft YaHei"/>
              </a:rPr>
              <a:t>Summary Body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/>
          <p:cNvSpPr>
            <a:spLocks noGrp="1"/>
          </p:cNvSpPr>
          <p:nvPr>
            <p:ph type="ctrTitle" idx="0"/>
          </p:nvPr>
        </p:nvSpPr>
        <p:spPr>
          <a:xfrm>
            <a:off x="1097280" y="2011680"/>
            <a:ext cx="9875520" cy="1005840"/>
          </a:xfrm>
          <a:prstGeom prst="rect">
            <a:avLst/>
          </a:prstGeom>
        </p:spPr>
        <p:txBody>
          <a:bodyPr wrap="square" rtlCol="0"/>
          <a:lstStyle/>
          <a:p>
            <a:pPr algn="ctr"/>
            <a:r>
              <a:rPr lang="zh-CN" altLang="en-US" b="1" sz="3000">
                <a:solidFill>
                  <a:srgbClr val="252F40"/>
                </a:solidFill>
                <a:latin typeface="Microsoft YaHei"/>
                <a:ea typeface="Microsoft YaHei"/>
              </a:rPr>
              <a:t>Title</a:t>
            </a:r>
          </a:p>
        </p:txBody>
      </p:sp>
      <p:sp>
        <p:nvSpPr>
          <p:cNvPr id="11" name="Subtitle"/>
          <p:cNvSpPr>
            <a:spLocks noGrp="1"/>
          </p:cNvSpPr>
          <p:nvPr>
            <p:ph type="subTitle" idx="1"/>
          </p:nvPr>
        </p:nvSpPr>
        <p:spPr>
          <a:xfrm>
            <a:off x="1463040" y="3154680"/>
            <a:ext cx="9144000" cy="640080"/>
          </a:xfrm>
          <a:prstGeom prst="rect">
            <a:avLst/>
          </a:prstGeom>
        </p:spPr>
        <p:txBody>
          <a:bodyPr wrap="square" rtlCol="0"/>
          <a:lstStyle/>
          <a:p>
            <a:pPr algn="ctr"/>
            <a:r>
              <a:rPr lang="zh-CN" altLang="en-US" sz="1800">
                <a:solidFill>
                  <a:srgbClr val="627089"/>
                </a:solidFill>
                <a:latin typeface="Microsoft YaHei"/>
                <a:ea typeface="Microsoft YaHei"/>
              </a:rPr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hyperlink" Target="http://localhost:5001/api/materials/93/download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hyperlink" Target="http://localhost:5001/api/materials/93/download" TargetMode="Externa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/>
          <a:lstStyle/>
          <a:p>
            <a:pPr algn="l">
              <a:defRPr sz="3000" b="1">
                <a:solidFill>
                  <a:srgbClr val="252F40"/>
                </a:solidFill>
                <a:latin typeface="Microsoft YaHei"/>
              </a:defRPr>
            </a:pPr>
            <a:r>
              <a:t>激发学生对化学的兴趣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/>
          <a:lstStyle/>
          <a:p>
            <a:pPr algn="l">
              <a:defRPr sz="1800" b="0">
                <a:solidFill>
                  <a:srgbClr val="627089"/>
                </a:solidFill>
                <a:latin typeface="Microsoft YaHei"/>
              </a:defRPr>
            </a:pPr>
            <a:r>
              <a:t>高中/高一/数学 | 第一章 化学反应的热效应 | 45分钟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86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180015" y="4754880"/>
            <a:ext cx="2468880" cy="2468880"/>
          </a:xfrm>
          <a:prstGeom prst="ellipse">
            <a:avLst/>
          </a:prstGeom>
          <a:solidFill>
            <a:srgbClr val="DCE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86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774375" y="320040"/>
            <a:ext cx="960120" cy="182880"/>
          </a:xfrm>
          <a:prstGeom prst="rect">
            <a:avLst/>
          </a:prstGeom>
          <a:solidFill>
            <a:srgbClr val="286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502920"/>
            <a:ext cx="8138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52F40"/>
                </a:solidFill>
                <a:latin typeface="Microsoft YaHei"/>
              </a:defRPr>
            </a:pPr>
            <a:r>
              <a:t>Agenda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645920"/>
            <a:ext cx="713232" cy="493776"/>
          </a:xfrm>
          <a:prstGeom prst="roundRect">
            <a:avLst/>
          </a:prstGeom>
          <a:solidFill>
            <a:srgbClr val="286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1627632"/>
            <a:ext cx="4114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52F40"/>
                </a:solidFill>
                <a:latin typeface="Microsoft YaHei"/>
              </a:defRPr>
            </a:pPr>
            <a:r>
              <a:t>什么是化学反应的热效应？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697480"/>
            <a:ext cx="713232" cy="493776"/>
          </a:xfrm>
          <a:prstGeom prst="roundRect">
            <a:avLst/>
          </a:prstGeom>
          <a:solidFill>
            <a:srgbClr val="286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2679192"/>
            <a:ext cx="4114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52F40"/>
                </a:solidFill>
                <a:latin typeface="Microsoft YaHei"/>
              </a:defRPr>
            </a:pPr>
            <a:r>
              <a:t>什么是化学反应的热效应？（续）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749039"/>
            <a:ext cx="713232" cy="493776"/>
          </a:xfrm>
          <a:prstGeom prst="roundRect">
            <a:avLst/>
          </a:prstGeom>
          <a:solidFill>
            <a:srgbClr val="286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3730752"/>
            <a:ext cx="4114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52F40"/>
                </a:solidFill>
                <a:latin typeface="Microsoft YaHei"/>
              </a:defRPr>
            </a:pPr>
            <a:r>
              <a:t>吸热反应与放热反应的区别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4800600"/>
            <a:ext cx="713232" cy="493776"/>
          </a:xfrm>
          <a:prstGeom prst="roundRect">
            <a:avLst/>
          </a:prstGeom>
          <a:solidFill>
            <a:srgbClr val="286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4782312"/>
            <a:ext cx="4114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52F40"/>
                </a:solidFill>
                <a:latin typeface="Microsoft YaHei"/>
              </a:defRPr>
            </a:pPr>
            <a:r>
              <a:t>焓变（ΔH）的概念与计算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1645920"/>
            <a:ext cx="713232" cy="493776"/>
          </a:xfrm>
          <a:prstGeom prst="roundRect">
            <a:avLst/>
          </a:prstGeom>
          <a:solidFill>
            <a:srgbClr val="286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0" y="1627632"/>
            <a:ext cx="4114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52F40"/>
                </a:solidFill>
                <a:latin typeface="Microsoft YaHei"/>
              </a:defRPr>
            </a:pPr>
            <a:r>
              <a:t>生活中常见的热效应实例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2697480"/>
            <a:ext cx="713232" cy="493776"/>
          </a:xfrm>
          <a:prstGeom prst="roundRect">
            <a:avLst/>
          </a:prstGeom>
          <a:solidFill>
            <a:srgbClr val="286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06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60" y="2679192"/>
            <a:ext cx="4114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52F40"/>
                </a:solidFill>
                <a:latin typeface="Microsoft YaHei"/>
              </a:defRPr>
            </a:pPr>
            <a:r>
              <a:t>小组讨论：热效应实例分析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3749039"/>
            <a:ext cx="713232" cy="493776"/>
          </a:xfrm>
          <a:prstGeom prst="roundRect">
            <a:avLst/>
          </a:prstGeom>
          <a:solidFill>
            <a:srgbClr val="286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07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3730752"/>
            <a:ext cx="4114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52F40"/>
                </a:solidFill>
                <a:latin typeface="Microsoft YaHei"/>
              </a:defRPr>
            </a:pPr>
            <a:r>
              <a:t>简易实验：测量温度变化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60" y="4800600"/>
            <a:ext cx="713232" cy="493776"/>
          </a:xfrm>
          <a:prstGeom prst="roundRect">
            <a:avLst/>
          </a:prstGeom>
          <a:solidFill>
            <a:srgbClr val="286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08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4782312"/>
            <a:ext cx="4114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52F40"/>
                </a:solidFill>
                <a:latin typeface="Microsoft YaHei"/>
              </a:defRPr>
            </a:pPr>
            <a:r>
              <a:t>课后任务布置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6400800"/>
            <a:ext cx="10652760" cy="36576"/>
          </a:xfrm>
          <a:prstGeom prst="rect">
            <a:avLst/>
          </a:prstGeom>
          <a:solidFill>
            <a:srgbClr val="DCE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109960" y="619963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D9A"/>
                </a:solidFill>
                <a:latin typeface="Microsoft YaHei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86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774375" y="320040"/>
            <a:ext cx="960120" cy="182880"/>
          </a:xfrm>
          <a:prstGeom prst="rect">
            <a:avLst/>
          </a:prstGeom>
          <a:solidFill>
            <a:srgbClr val="286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502920"/>
            <a:ext cx="8138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52F40"/>
                </a:solidFill>
                <a:latin typeface="Microsoft YaHei"/>
              </a:defRPr>
            </a:pPr>
            <a:r>
              <a:t>什么是化学反应的热效应？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417320"/>
            <a:ext cx="10378440" cy="4709160"/>
          </a:xfrm>
          <a:prstGeom prst="rect">
            <a:avLst/>
          </a:prstGeom>
          <a:noFill/>
        </p:spPr>
        <p:txBody>
          <a:bodyPr wrap="square" lIns="101600" rIns="101600" tIns="76200" bIns="76200" anchor="t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52F40"/>
                </a:solidFill>
                <a:latin typeface="Microsoft YaHei"/>
              </a:defRPr>
            </a:pPr>
            <a:r>
              <a:t>• 化学反应中吸收或释放的能量称为热效应</a:t>
            </a:r>
          </a:p>
          <a:p>
            <a:pPr>
              <a:spcAft>
                <a:spcPts val="1000"/>
              </a:spcAft>
              <a:defRPr sz="1700">
                <a:solidFill>
                  <a:srgbClr val="252F40"/>
                </a:solidFill>
                <a:latin typeface="Microsoft YaHei"/>
              </a:defRPr>
            </a:pPr>
            <a:r>
              <a:t>• 热效应是化学反应的重要特征之一，建议结合“什么是化学反应的热效应？”补充一个课堂例子或提问点，帮助学生快速理解。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6400800"/>
            <a:ext cx="10652760" cy="36576"/>
          </a:xfrm>
          <a:prstGeom prst="rect">
            <a:avLst/>
          </a:prstGeom>
          <a:solidFill>
            <a:srgbClr val="DCE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09960" y="619963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D9A"/>
                </a:solidFill>
                <a:latin typeface="Microsoft YaHei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86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774375" y="320040"/>
            <a:ext cx="960120" cy="182880"/>
          </a:xfrm>
          <a:prstGeom prst="rect">
            <a:avLst/>
          </a:prstGeom>
          <a:solidFill>
            <a:srgbClr val="286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502920"/>
            <a:ext cx="8138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52F40"/>
                </a:solidFill>
                <a:latin typeface="Microsoft YaHei"/>
              </a:defRPr>
            </a:pPr>
            <a:r>
              <a:t>什么是化学反应的热效应？（续）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417320"/>
            <a:ext cx="10378440" cy="4709160"/>
          </a:xfrm>
          <a:prstGeom prst="rect">
            <a:avLst/>
          </a:prstGeom>
          <a:noFill/>
        </p:spPr>
        <p:txBody>
          <a:bodyPr wrap="square" lIns="101600" rIns="101600" tIns="76200" bIns="76200" anchor="t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52F40"/>
                </a:solidFill>
                <a:latin typeface="Microsoft YaHei"/>
              </a:defRPr>
            </a:pPr>
            <a:r>
              <a:t>• 常见例子：燃烧、溶解、中和反应等</a:t>
            </a:r>
          </a:p>
          <a:p>
            <a:pPr>
              <a:spcAft>
                <a:spcPts val="1000"/>
              </a:spcAft>
              <a:defRPr sz="1700">
                <a:solidFill>
                  <a:srgbClr val="252F40"/>
                </a:solidFill>
                <a:latin typeface="Microsoft YaHei"/>
              </a:defRPr>
            </a:pPr>
            <a:r>
              <a:t>• 教师提问：你是否注意到某些反应会发热或降温？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6400800"/>
            <a:ext cx="10652760" cy="36576"/>
          </a:xfrm>
          <a:prstGeom prst="rect">
            <a:avLst/>
          </a:prstGeom>
          <a:solidFill>
            <a:srgbClr val="DCE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09960" y="619963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D9A"/>
                </a:solidFill>
                <a:latin typeface="Microsoft YaHei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86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774375" y="320040"/>
            <a:ext cx="960120" cy="182880"/>
          </a:xfrm>
          <a:prstGeom prst="rect">
            <a:avLst/>
          </a:prstGeom>
          <a:solidFill>
            <a:srgbClr val="286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502920"/>
            <a:ext cx="8138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52F40"/>
                </a:solidFill>
                <a:latin typeface="Microsoft YaHei"/>
              </a:defRPr>
            </a:pPr>
            <a:r>
              <a:t>吸热反应与放热反应的区别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417320"/>
            <a:ext cx="10378440" cy="4709160"/>
          </a:xfrm>
          <a:prstGeom prst="rect">
            <a:avLst/>
          </a:prstGeom>
          <a:noFill/>
        </p:spPr>
        <p:txBody>
          <a:bodyPr wrap="square" lIns="101600" rIns="101600" tIns="76200" bIns="76200" anchor="t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52F40"/>
                </a:solidFill>
                <a:latin typeface="Microsoft YaHei"/>
              </a:defRPr>
            </a:pPr>
            <a:r>
              <a:t>• 吸热反应：从外界吸收热量，体系温度下降</a:t>
            </a:r>
          </a:p>
          <a:p>
            <a:pPr>
              <a:spcAft>
                <a:spcPts val="1000"/>
              </a:spcAft>
              <a:defRPr sz="1700">
                <a:solidFill>
                  <a:srgbClr val="252F40"/>
                </a:solidFill>
                <a:latin typeface="Microsoft YaHei"/>
              </a:defRPr>
            </a:pPr>
            <a:r>
              <a:t>• 放热反应：向外界释放热量，体系温度上升</a:t>
            </a:r>
          </a:p>
          <a:p>
            <a:pPr>
              <a:spcAft>
                <a:spcPts val="1000"/>
              </a:spcAft>
              <a:defRPr sz="1700">
                <a:solidFill>
                  <a:srgbClr val="252F40"/>
                </a:solidFill>
                <a:latin typeface="Microsoft YaHei"/>
              </a:defRPr>
            </a:pPr>
            <a:r>
              <a:t>• 举例：冰块融化（吸热）、火柴燃烧（放热）</a:t>
            </a:r>
          </a:p>
          <a:p>
            <a:pPr>
              <a:spcAft>
                <a:spcPts val="1000"/>
              </a:spcAft>
              <a:defRPr sz="1700">
                <a:solidFill>
                  <a:srgbClr val="252F40"/>
                </a:solidFill>
                <a:latin typeface="Microsoft YaHei"/>
              </a:defRPr>
            </a:pPr>
            <a:r>
              <a:t>• 当堂练习：判断下列反应类型（如：酸碱中和）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6400800"/>
            <a:ext cx="10652760" cy="36576"/>
          </a:xfrm>
          <a:prstGeom prst="rect">
            <a:avLst/>
          </a:prstGeom>
          <a:solidFill>
            <a:srgbClr val="DCE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09960" y="619963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D9A"/>
                </a:solidFill>
                <a:latin typeface="Microsoft YaHei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86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774375" y="320040"/>
            <a:ext cx="960120" cy="182880"/>
          </a:xfrm>
          <a:prstGeom prst="rect">
            <a:avLst/>
          </a:prstGeom>
          <a:solidFill>
            <a:srgbClr val="286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502920"/>
            <a:ext cx="8138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52F40"/>
                </a:solidFill>
                <a:latin typeface="Microsoft YaHei"/>
              </a:defRPr>
            </a:pPr>
            <a:r>
              <a:t>焓变（ΔH）的概念与计算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417320"/>
            <a:ext cx="10378440" cy="4709160"/>
          </a:xfrm>
          <a:prstGeom prst="rect">
            <a:avLst/>
          </a:prstGeom>
          <a:noFill/>
        </p:spPr>
        <p:txBody>
          <a:bodyPr wrap="square" lIns="101600" rIns="101600" tIns="76200" bIns="76200" anchor="t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52F40"/>
                </a:solidFill>
                <a:latin typeface="Microsoft YaHei"/>
              </a:defRPr>
            </a:pPr>
            <a:r>
              <a:t>• 焓变表示反应前后系统的能量差，建议结合“焓变（ΔH）的概念与计算”补充一个课堂例子或提问点，帮助学生快速理解。</a:t>
            </a:r>
          </a:p>
          <a:p>
            <a:pPr>
              <a:spcAft>
                <a:spcPts val="1000"/>
              </a:spcAft>
              <a:defRPr sz="1700">
                <a:solidFill>
                  <a:srgbClr val="252F40"/>
                </a:solidFill>
                <a:latin typeface="Microsoft YaHei"/>
              </a:defRPr>
            </a:pPr>
            <a:r>
              <a:t>• ΔH为负值表示放热反应，正值表示吸热反应</a:t>
            </a:r>
          </a:p>
          <a:p>
            <a:pPr>
              <a:spcAft>
                <a:spcPts val="1000"/>
              </a:spcAft>
              <a:defRPr sz="1700">
                <a:solidFill>
                  <a:srgbClr val="252F40"/>
                </a:solidFill>
                <a:latin typeface="Microsoft YaHei"/>
              </a:defRPr>
            </a:pPr>
            <a:r>
              <a:t>• 公式：ΔH = H(生成物) - H(反应物)</a:t>
            </a:r>
          </a:p>
          <a:p>
            <a:pPr>
              <a:spcAft>
                <a:spcPts val="1000"/>
              </a:spcAft>
              <a:defRPr sz="1700">
                <a:solidFill>
                  <a:srgbClr val="252F40"/>
                </a:solidFill>
                <a:latin typeface="Microsoft YaHei"/>
              </a:defRPr>
            </a:pPr>
            <a:r>
              <a:t>• 教师引导：推导焓变公式的物理意义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6400800"/>
            <a:ext cx="10652760" cy="36576"/>
          </a:xfrm>
          <a:prstGeom prst="rect">
            <a:avLst/>
          </a:prstGeom>
          <a:solidFill>
            <a:srgbClr val="DCE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09960" y="619963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D9A"/>
                </a:solidFill>
                <a:latin typeface="Microsoft YaHei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86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774375" y="320040"/>
            <a:ext cx="960120" cy="182880"/>
          </a:xfrm>
          <a:prstGeom prst="rect">
            <a:avLst/>
          </a:prstGeom>
          <a:solidFill>
            <a:srgbClr val="286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502920"/>
            <a:ext cx="8138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52F40"/>
                </a:solidFill>
                <a:latin typeface="Microsoft YaHei"/>
              </a:defRPr>
            </a:pPr>
            <a:r>
              <a:t>生活中常见的热效应实例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417320"/>
            <a:ext cx="10378440" cy="4709160"/>
          </a:xfrm>
          <a:prstGeom prst="rect">
            <a:avLst/>
          </a:prstGeom>
          <a:noFill/>
        </p:spPr>
        <p:txBody>
          <a:bodyPr wrap="square" lIns="101600" rIns="101600" tIns="76200" bIns="76200" anchor="t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52F40"/>
                </a:solidFill>
                <a:latin typeface="Microsoft YaHei"/>
              </a:defRPr>
            </a:pPr>
            <a:r>
              <a:t>• 燃烧：放热反应，如木头燃烧产生热量</a:t>
            </a:r>
          </a:p>
          <a:p>
            <a:pPr>
              <a:spcAft>
                <a:spcPts val="1000"/>
              </a:spcAft>
              <a:defRPr sz="1700">
                <a:solidFill>
                  <a:srgbClr val="252F40"/>
                </a:solidFill>
                <a:latin typeface="Microsoft YaHei"/>
              </a:defRPr>
            </a:pPr>
            <a:r>
              <a:t>• 溶解：部分物质溶解时吸热，如硝酸铵</a:t>
            </a:r>
          </a:p>
          <a:p>
            <a:pPr>
              <a:spcAft>
                <a:spcPts val="1000"/>
              </a:spcAft>
              <a:defRPr sz="1700">
                <a:solidFill>
                  <a:srgbClr val="252F40"/>
                </a:solidFill>
                <a:latin typeface="Microsoft YaHei"/>
              </a:defRPr>
            </a:pPr>
            <a:r>
              <a:t>• 中和反应：酸碱中和通常放热，建议结合“生活中常见的热效应实例”补充一个课堂例子或提问点，帮助学生快速理解。</a:t>
            </a:r>
          </a:p>
          <a:p>
            <a:pPr>
              <a:spcAft>
                <a:spcPts val="1000"/>
              </a:spcAft>
              <a:defRPr sz="1700">
                <a:solidFill>
                  <a:srgbClr val="252F40"/>
                </a:solidFill>
                <a:latin typeface="Microsoft YaHei"/>
              </a:defRPr>
            </a:pPr>
            <a:r>
              <a:t>• 学生观察点：记录家中某次化学反应的温度变化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6400800"/>
            <a:ext cx="10652760" cy="36576"/>
          </a:xfrm>
          <a:prstGeom prst="rect">
            <a:avLst/>
          </a:prstGeom>
          <a:solidFill>
            <a:srgbClr val="DCE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09960" y="619963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D9A"/>
                </a:solidFill>
                <a:latin typeface="Microsoft YaHei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86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774375" y="320040"/>
            <a:ext cx="960120" cy="182880"/>
          </a:xfrm>
          <a:prstGeom prst="rect">
            <a:avLst/>
          </a:prstGeom>
          <a:solidFill>
            <a:srgbClr val="286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502920"/>
            <a:ext cx="8138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52F40"/>
                </a:solidFill>
                <a:latin typeface="Microsoft YaHei"/>
              </a:defRPr>
            </a:pPr>
            <a:r>
              <a:t>小组讨论：热效应实例分析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417320"/>
            <a:ext cx="10378440" cy="4709160"/>
          </a:xfrm>
          <a:prstGeom prst="rect">
            <a:avLst/>
          </a:prstGeom>
          <a:noFill/>
        </p:spPr>
        <p:txBody>
          <a:bodyPr wrap="square" lIns="101600" rIns="101600" tIns="76200" bIns="76200" anchor="t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52F40"/>
                </a:solidFill>
                <a:latin typeface="Microsoft YaHei"/>
              </a:defRPr>
            </a:pPr>
            <a:r>
              <a:t>• 分组讨论：列举三种与热效应相关的日常现象</a:t>
            </a:r>
          </a:p>
          <a:p>
            <a:pPr>
              <a:spcAft>
                <a:spcPts val="1000"/>
              </a:spcAft>
              <a:defRPr sz="1700">
                <a:solidFill>
                  <a:srgbClr val="252F40"/>
                </a:solidFill>
                <a:latin typeface="Microsoft YaHei"/>
              </a:defRPr>
            </a:pPr>
            <a:r>
              <a:t>• 分析每种现象属于吸热还是放热反应</a:t>
            </a:r>
          </a:p>
          <a:p>
            <a:pPr>
              <a:spcAft>
                <a:spcPts val="1000"/>
              </a:spcAft>
              <a:defRPr sz="1700">
                <a:solidFill>
                  <a:srgbClr val="252F40"/>
                </a:solidFill>
                <a:latin typeface="Microsoft YaHei"/>
              </a:defRPr>
            </a:pPr>
            <a:r>
              <a:t>• 准备小组汇报，说明判断依据，建议结合“小组讨论：热效应实例分析”补充一个课堂例子或提问点，帮助学生快速理解。</a:t>
            </a:r>
          </a:p>
          <a:p>
            <a:pPr>
              <a:spcAft>
                <a:spcPts val="1000"/>
              </a:spcAft>
              <a:defRPr sz="1700">
                <a:solidFill>
                  <a:srgbClr val="252F40"/>
                </a:solidFill>
                <a:latin typeface="Microsoft YaHei"/>
              </a:defRPr>
            </a:pPr>
            <a:r>
              <a:t>• 教师指导：提供必要材料支持讨论，建议结合“小组讨论：热效应实例分析”补充一个课堂例子或提问点，帮助学生快速理解。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6400800"/>
            <a:ext cx="10652760" cy="36576"/>
          </a:xfrm>
          <a:prstGeom prst="rect">
            <a:avLst/>
          </a:prstGeom>
          <a:solidFill>
            <a:srgbClr val="DCE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09960" y="619963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D9A"/>
                </a:solidFill>
                <a:latin typeface="Microsoft YaHei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86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774375" y="320040"/>
            <a:ext cx="960120" cy="182880"/>
          </a:xfrm>
          <a:prstGeom prst="rect">
            <a:avLst/>
          </a:prstGeom>
          <a:solidFill>
            <a:srgbClr val="286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502920"/>
            <a:ext cx="8138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52F40"/>
                </a:solidFill>
                <a:latin typeface="Microsoft YaHei"/>
              </a:defRPr>
            </a:pPr>
            <a:r>
              <a:t>简易实验：测量温度变化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417320"/>
            <a:ext cx="10378440" cy="4709160"/>
          </a:xfrm>
          <a:prstGeom prst="rect">
            <a:avLst/>
          </a:prstGeom>
          <a:noFill/>
        </p:spPr>
        <p:txBody>
          <a:bodyPr wrap="square" lIns="101600" rIns="101600" tIns="76200" bIns="76200" anchor="t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52F40"/>
                </a:solidFill>
                <a:latin typeface="Microsoft YaHei"/>
              </a:defRPr>
            </a:pPr>
            <a:r>
              <a:t>• 设计实验：用温度计测量盐溶解或酸碱中和时的温度变化</a:t>
            </a:r>
          </a:p>
          <a:p>
            <a:pPr>
              <a:spcAft>
                <a:spcPts val="1000"/>
              </a:spcAft>
              <a:defRPr sz="1700">
                <a:solidFill>
                  <a:srgbClr val="252F40"/>
                </a:solidFill>
                <a:latin typeface="Microsoft YaHei"/>
              </a:defRPr>
            </a:pPr>
            <a:r>
              <a:t>• 记录数据并分析反应类型，建议结合“简易实验：测量温度变化”补充一个课堂例子或提问点，帮助学生快速理解。</a:t>
            </a:r>
          </a:p>
          <a:p>
            <a:pPr>
              <a:spcAft>
                <a:spcPts val="1000"/>
              </a:spcAft>
              <a:defRPr sz="1700">
                <a:solidFill>
                  <a:srgbClr val="252F40"/>
                </a:solidFill>
                <a:latin typeface="Microsoft YaHei"/>
              </a:defRPr>
            </a:pPr>
            <a:r>
              <a:t>• 教师协助：确保实验安全与准确性，建议结合“简易实验：测量温度变化”补充一个课堂例子或提问点，帮助学生快速理解。</a:t>
            </a:r>
          </a:p>
          <a:p>
            <a:pPr>
              <a:spcAft>
                <a:spcPts val="1000"/>
              </a:spcAft>
              <a:defRPr sz="1700">
                <a:solidFill>
                  <a:srgbClr val="252F40"/>
                </a:solidFill>
                <a:latin typeface="Microsoft YaHei"/>
              </a:defRPr>
            </a:pPr>
            <a:r>
              <a:t>• 学生操作：独立完成实验步骤，建议结合“简易实验：测量温度变化”补充一个课堂例子或提问点，帮助学生快速理解。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6400800"/>
            <a:ext cx="10652760" cy="36576"/>
          </a:xfrm>
          <a:prstGeom prst="rect">
            <a:avLst/>
          </a:prstGeom>
          <a:solidFill>
            <a:srgbClr val="DCE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09960" y="619963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D9A"/>
                </a:solidFill>
                <a:latin typeface="Microsoft YaHei"/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86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774375" y="320040"/>
            <a:ext cx="960120" cy="182880"/>
          </a:xfrm>
          <a:prstGeom prst="rect">
            <a:avLst/>
          </a:prstGeom>
          <a:solidFill>
            <a:srgbClr val="286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502920"/>
            <a:ext cx="8138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52F40"/>
                </a:solidFill>
                <a:latin typeface="Microsoft YaHei"/>
              </a:defRPr>
            </a:pPr>
            <a:r>
              <a:t>课后任务布置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417320"/>
            <a:ext cx="10378440" cy="4709160"/>
          </a:xfrm>
          <a:prstGeom prst="rect">
            <a:avLst/>
          </a:prstGeom>
          <a:noFill/>
        </p:spPr>
        <p:txBody>
          <a:bodyPr wrap="square" lIns="101600" rIns="101600" tIns="76200" bIns="76200" anchor="t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52F40"/>
                </a:solidFill>
                <a:latin typeface="Microsoft YaHei"/>
              </a:defRPr>
            </a:pPr>
            <a:r>
              <a:t>• 查阅资料，写出三种工业生产中利用热效应的实例及其原理</a:t>
            </a:r>
          </a:p>
          <a:p>
            <a:pPr>
              <a:spcAft>
                <a:spcPts val="1000"/>
              </a:spcAft>
              <a:defRPr sz="1700">
                <a:solidFill>
                  <a:srgbClr val="252F40"/>
                </a:solidFill>
                <a:latin typeface="Microsoft YaHei"/>
              </a:defRPr>
            </a:pPr>
            <a:r>
              <a:t>• 完成实验报告，记录家中某次化学反应的温度变化情况</a:t>
            </a:r>
          </a:p>
          <a:p>
            <a:pPr>
              <a:spcAft>
                <a:spcPts val="1000"/>
              </a:spcAft>
              <a:defRPr sz="1700">
                <a:solidFill>
                  <a:srgbClr val="252F40"/>
                </a:solidFill>
                <a:latin typeface="Microsoft YaHei"/>
              </a:defRPr>
            </a:pPr>
            <a:r>
              <a:t>• 撰写短文，阐述你对化学反应热效应的理解与兴趣来源</a:t>
            </a:r>
          </a:p>
          <a:p>
            <a:pPr>
              <a:spcAft>
                <a:spcPts val="1000"/>
              </a:spcAft>
              <a:defRPr sz="1700">
                <a:solidFill>
                  <a:srgbClr val="252F40"/>
                </a:solidFill>
                <a:latin typeface="Microsoft YaHei"/>
              </a:defRPr>
            </a:pPr>
            <a:r>
              <a:t>• 拓展任务：研究新型能源材料的热效应特性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559612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27089"/>
                </a:solidFill>
                <a:latin typeface="Microsoft YaHei"/>
              </a:defRPr>
            </a:pPr>
            <a:r>
              <a:t>互动小游戏链接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5815584"/>
            <a:ext cx="10149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863D2"/>
                </a:solidFill>
                <a:latin typeface="Microsoft YaHei"/>
                <a:hlinkClick r:id="rId2"/>
              </a:rPr>
              <a:t>http://localhost:5001/api/materials/93/download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6400800"/>
            <a:ext cx="10652760" cy="36576"/>
          </a:xfrm>
          <a:prstGeom prst="rect">
            <a:avLst/>
          </a:prstGeom>
          <a:solidFill>
            <a:srgbClr val="DCE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09960" y="619963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D9A"/>
                </a:solidFill>
                <a:latin typeface="Microsoft YaHei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86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774375" y="320040"/>
            <a:ext cx="960120" cy="182880"/>
          </a:xfrm>
          <a:prstGeom prst="rect">
            <a:avLst/>
          </a:prstGeom>
          <a:solidFill>
            <a:srgbClr val="286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502920"/>
            <a:ext cx="8138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52F40"/>
                </a:solidFill>
                <a:latin typeface="Microsoft YaHei"/>
              </a:defRPr>
            </a:pPr>
            <a:r>
              <a:t>本课知识点总结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691640"/>
            <a:ext cx="5074920" cy="1463040"/>
          </a:xfrm>
          <a:prstGeom prst="roundRect">
            <a:avLst/>
          </a:prstGeom>
          <a:solidFill>
            <a:srgbClr val="F0F5FC"/>
          </a:solidFill>
          <a:ln>
            <a:solidFill>
              <a:srgbClr val="DCE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700" b="0">
                <a:solidFill>
                  <a:srgbClr val="252F40"/>
                </a:solidFill>
                <a:latin typeface="Microsoft YaHei"/>
              </a:defRPr>
            </a:pPr>
            <a:r>
              <a:t>化学反应的热效应是能量变化的表现形式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91640"/>
            <a:ext cx="5074920" cy="1463040"/>
          </a:xfrm>
          <a:prstGeom prst="roundRect">
            <a:avLst/>
          </a:prstGeom>
          <a:solidFill>
            <a:srgbClr val="F0F5FC"/>
          </a:solidFill>
          <a:ln>
            <a:solidFill>
              <a:srgbClr val="DCE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700" b="0">
                <a:solidFill>
                  <a:srgbClr val="252F40"/>
                </a:solidFill>
                <a:latin typeface="Microsoft YaHei"/>
              </a:defRPr>
            </a:pPr>
            <a:r>
              <a:t>吸热反应吸收热量，放热反应释放热量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749039"/>
            <a:ext cx="5074920" cy="1463040"/>
          </a:xfrm>
          <a:prstGeom prst="roundRect">
            <a:avLst/>
          </a:prstGeom>
          <a:solidFill>
            <a:srgbClr val="F0F5FC"/>
          </a:solidFill>
          <a:ln>
            <a:solidFill>
              <a:srgbClr val="DCE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700" b="0">
                <a:solidFill>
                  <a:srgbClr val="252F40"/>
                </a:solidFill>
                <a:latin typeface="Microsoft YaHei"/>
              </a:defRPr>
            </a:pPr>
            <a:r>
              <a:t>焓变（ΔH）是衡量热效应的关键指标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749039"/>
            <a:ext cx="5074920" cy="1463040"/>
          </a:xfrm>
          <a:prstGeom prst="roundRect">
            <a:avLst/>
          </a:prstGeom>
          <a:solidFill>
            <a:srgbClr val="F0F5FC"/>
          </a:solidFill>
          <a:ln>
            <a:solidFill>
              <a:srgbClr val="DCE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700" b="0">
                <a:solidFill>
                  <a:srgbClr val="252F40"/>
                </a:solidFill>
                <a:latin typeface="Microsoft YaHei"/>
              </a:defRPr>
            </a:pPr>
            <a:r>
              <a:t>常见实例包括燃烧、溶解、中和反应等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6400800"/>
            <a:ext cx="10652760" cy="36576"/>
          </a:xfrm>
          <a:prstGeom prst="rect">
            <a:avLst/>
          </a:prstGeom>
          <a:solidFill>
            <a:srgbClr val="DCE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09960" y="619963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D9A"/>
                </a:solidFill>
                <a:latin typeface="Microsoft YaHei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86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774375" y="320040"/>
            <a:ext cx="960120" cy="182880"/>
          </a:xfrm>
          <a:prstGeom prst="rect">
            <a:avLst/>
          </a:prstGeom>
          <a:solidFill>
            <a:srgbClr val="286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180015" y="4754880"/>
            <a:ext cx="2468880" cy="2468880"/>
          </a:xfrm>
          <a:prstGeom prst="ellipse">
            <a:avLst/>
          </a:prstGeom>
          <a:solidFill>
            <a:srgbClr val="DCE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502920"/>
            <a:ext cx="8138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52F40"/>
                </a:solidFill>
                <a:latin typeface="Microsoft YaHei"/>
              </a:defRPr>
            </a:pPr>
            <a:r>
              <a:t>小游戏入口页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371600"/>
            <a:ext cx="6583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27089"/>
                </a:solidFill>
                <a:latin typeface="Microsoft YaHei"/>
              </a:defRPr>
            </a:pPr>
            <a:r>
              <a:t>扫码或点击链接下载并运行课堂互动小游戏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828800"/>
            <a:ext cx="6583680" cy="3566160"/>
          </a:xfrm>
          <a:prstGeom prst="roundRect">
            <a:avLst/>
          </a:prstGeom>
          <a:solidFill>
            <a:srgbClr val="F0F5FC"/>
          </a:solidFill>
          <a:ln>
            <a:solidFill>
              <a:srgbClr val="DCE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 b="0">
                <a:solidFill>
                  <a:srgbClr val="252F40"/>
                </a:solidFill>
                <a:latin typeface="Microsoft YaHei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1097280" y="21488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27089"/>
                </a:solidFill>
                <a:latin typeface="Microsoft YaHei"/>
              </a:defRPr>
            </a:pPr>
            <a:r>
              <a:t>文件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404872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52F40"/>
                </a:solidFill>
                <a:latin typeface="Microsoft YaHei"/>
              </a:defRPr>
            </a:pPr>
            <a:r>
              <a:t>lesson-game_20260427_231519_3ceec8.html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06324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27089"/>
                </a:solidFill>
                <a:latin typeface="Microsoft YaHei"/>
              </a:defRPr>
            </a:pPr>
            <a:r>
              <a:t>下载链接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346704"/>
            <a:ext cx="5394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863D2"/>
                </a:solidFill>
                <a:latin typeface="Microsoft YaHei"/>
                <a:hlinkClick r:id="rId2"/>
              </a:rPr>
              <a:t>http://localhost:5001/api/materials/93/download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46177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27089"/>
                </a:solidFill>
                <a:latin typeface="Microsoft YaHei"/>
              </a:defRPr>
            </a:pPr>
            <a:r>
              <a:t>教师提示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892040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52F40"/>
                </a:solidFill>
                <a:latin typeface="Microsoft YaHei"/>
              </a:defRPr>
            </a:pPr>
            <a:r>
              <a:t>建议先将 HTML 文件下载到本机，再双击打开进行课堂演示或课后练习。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09560" y="1828800"/>
            <a:ext cx="2743200" cy="2743200"/>
          </a:xfrm>
          <a:prstGeom prst="roundRect">
            <a:avLst/>
          </a:prstGeom>
          <a:solidFill>
            <a:srgbClr val="FFFFFF"/>
          </a:solidFill>
          <a:ln>
            <a:solidFill>
              <a:srgbClr val="DCE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game_entry_qr_f0217dab65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5008" y="1984248"/>
            <a:ext cx="2432304" cy="243230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955279" y="475488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52F40"/>
                </a:solidFill>
                <a:latin typeface="Microsoft YaHei"/>
              </a:defRPr>
            </a:pPr>
            <a:r>
              <a:t>扫码下载小游戏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18120" y="5084064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27089"/>
                </a:solidFill>
                <a:latin typeface="Microsoft YaHei"/>
              </a:defRPr>
            </a:pPr>
            <a:r>
              <a:t>如扫码受限，可直接点击左侧链接。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6400800"/>
            <a:ext cx="10652760" cy="36576"/>
          </a:xfrm>
          <a:prstGeom prst="rect">
            <a:avLst/>
          </a:prstGeom>
          <a:solidFill>
            <a:srgbClr val="DCE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109960" y="619963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D9A"/>
                </a:solidFill>
                <a:latin typeface="Microsoft YaHei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