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ctrTitle" idx="0"/>
          </p:nvPr>
        </p:nvSpPr>
        <p:spPr>
          <a:xfrm>
            <a:off x="822960" y="1554480"/>
            <a:ext cx="10058400" cy="1280160"/>
          </a:xfrm>
          <a:prstGeom prst="rect">
            <a:avLst/>
          </a:prstGeom>
        </p:spPr>
        <p:txBody>
          <a:bodyPr wrap="square" rtlCol="0"/>
          <a:lstStyle/>
          <a:p>
            <a:pPr algn="l"/>
            <a:r>
              <a:rPr lang="zh-CN" altLang="en-US" b="1" sz="3000">
                <a:solidFill>
                  <a:srgbClr val="252F40"/>
                </a:solidFill>
                <a:latin typeface="Microsoft YaHei"/>
                <a:ea typeface="Microsoft YaHei"/>
              </a:rPr>
              <a:t>Title</a:t>
            </a:r>
          </a:p>
        </p:txBody>
      </p:sp>
      <p:sp>
        <p:nvSpPr>
          <p:cNvPr id="11" name="Subtitle"/>
          <p:cNvSpPr>
            <a:spLocks noGrp="1"/>
          </p:cNvSpPr>
          <p:nvPr>
            <p:ph type="subTitle" idx="1"/>
          </p:nvPr>
        </p:nvSpPr>
        <p:spPr>
          <a:xfrm>
            <a:off x="868680" y="2926080"/>
            <a:ext cx="8046720" cy="731520"/>
          </a:xfrm>
          <a:prstGeom prst="rect">
            <a:avLst/>
          </a:prstGeom>
        </p:spPr>
        <p:txBody>
          <a:bodyPr wrap="square" rtlCol="0"/>
          <a:lstStyle/>
          <a:p>
            <a:pPr algn="l"/>
            <a:r>
              <a:rPr lang="zh-CN" altLang="en-US" sz="1800">
                <a:solidFill>
                  <a:srgbClr val="627089"/>
                </a:solidFill>
                <a:latin typeface="Microsoft YaHei"/>
                <a:ea typeface="Microsoft YaHei"/>
              </a:rPr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 idx="0"/>
          </p:nvPr>
        </p:nvSpPr>
        <p:spPr>
          <a:xfrm>
            <a:off x="822960" y="502920"/>
            <a:ext cx="8138160" cy="640080"/>
          </a:xfrm>
          <a:prstGeom prst="rect">
            <a:avLst/>
          </a:prstGeom>
        </p:spPr>
        <p:txBody>
          <a:bodyPr wrap="square" rtlCol="0"/>
          <a:lstStyle/>
          <a:p>
            <a:r>
              <a:rPr lang="zh-CN" altLang="en-US" b="1" sz="2800">
                <a:solidFill>
                  <a:srgbClr val="252F40"/>
                </a:solidFill>
                <a:latin typeface="Microsoft YaHei"/>
                <a:ea typeface="Microsoft YaHei"/>
              </a:rPr>
              <a:t>Title</a:t>
            </a:r>
          </a:p>
        </p:txBody>
      </p:sp>
      <p:sp>
        <p:nvSpPr>
          <p:cNvPr id="11" name="TOC Body"/>
          <p:cNvSpPr>
            <a:spLocks noGrp="1"/>
          </p:cNvSpPr>
          <p:nvPr>
            <p:ph idx="1"/>
          </p:nvPr>
        </p:nvSpPr>
        <p:spPr>
          <a:xfrm>
            <a:off x="822960" y="1463040"/>
            <a:ext cx="10424160" cy="4572000"/>
          </a:xfrm>
          <a:prstGeom prst="rect">
            <a:avLst/>
          </a:prstGeom>
        </p:spPr>
        <p:txBody>
          <a:bodyPr wrap="square" rtlCol="0"/>
          <a:lstStyle/>
          <a:p>
            <a:r>
              <a:rPr lang="zh-CN" altLang="en-US" sz="1800">
                <a:solidFill>
                  <a:srgbClr val="252F40"/>
                </a:solidFill>
                <a:latin typeface="Microsoft YaHei"/>
                <a:ea typeface="Microsoft YaHei"/>
              </a:rPr>
              <a:t>TOC Body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 idx="0"/>
          </p:nvPr>
        </p:nvSpPr>
        <p:spPr>
          <a:xfrm>
            <a:off x="822960" y="502920"/>
            <a:ext cx="8138160" cy="640080"/>
          </a:xfrm>
          <a:prstGeom prst="rect">
            <a:avLst/>
          </a:prstGeom>
        </p:spPr>
        <p:txBody>
          <a:bodyPr wrap="square" rtlCol="0"/>
          <a:lstStyle/>
          <a:p>
            <a:r>
              <a:rPr lang="zh-CN" altLang="en-US" b="1" sz="2800">
                <a:solidFill>
                  <a:srgbClr val="252F40"/>
                </a:solidFill>
                <a:latin typeface="Microsoft YaHei"/>
                <a:ea typeface="Microsoft YaHei"/>
              </a:rPr>
              <a:t>Title</a:t>
            </a:r>
          </a:p>
        </p:txBody>
      </p:sp>
      <p:sp>
        <p:nvSpPr>
          <p:cNvPr id="11" name="Content Body"/>
          <p:cNvSpPr>
            <a:spLocks noGrp="1"/>
          </p:cNvSpPr>
          <p:nvPr>
            <p:ph idx="1"/>
          </p:nvPr>
        </p:nvSpPr>
        <p:spPr>
          <a:xfrm>
            <a:off x="868680" y="1417320"/>
            <a:ext cx="10378440" cy="4114800"/>
          </a:xfrm>
          <a:prstGeom prst="rect">
            <a:avLst/>
          </a:prstGeom>
        </p:spPr>
        <p:txBody>
          <a:bodyPr wrap="square" rtlCol="0"/>
          <a:lstStyle/>
          <a:p>
            <a:r>
              <a:rPr lang="zh-CN" altLang="en-US" sz="1700">
                <a:solidFill>
                  <a:srgbClr val="252F40"/>
                </a:solidFill>
                <a:latin typeface="Microsoft YaHei"/>
                <a:ea typeface="Microsoft YaHei"/>
              </a:rPr>
              <a:t>Content Body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_img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 idx="0"/>
          </p:nvPr>
        </p:nvSpPr>
        <p:spPr>
          <a:xfrm>
            <a:off x="822960" y="502920"/>
            <a:ext cx="8138160" cy="640080"/>
          </a:xfrm>
          <a:prstGeom prst="rect">
            <a:avLst/>
          </a:prstGeom>
        </p:spPr>
        <p:txBody>
          <a:bodyPr wrap="square" rtlCol="0"/>
          <a:lstStyle/>
          <a:p>
            <a:r>
              <a:rPr lang="zh-CN" altLang="en-US" b="1" sz="2800">
                <a:solidFill>
                  <a:srgbClr val="252F40"/>
                </a:solidFill>
                <a:latin typeface="Microsoft YaHei"/>
                <a:ea typeface="Microsoft YaHei"/>
              </a:rPr>
              <a:t>Title</a:t>
            </a:r>
          </a:p>
        </p:txBody>
      </p:sp>
      <p:sp>
        <p:nvSpPr>
          <p:cNvPr id="12" name="Picture Left"/>
          <p:cNvSpPr>
            <a:spLocks noGrp="1"/>
          </p:cNvSpPr>
          <p:nvPr>
            <p:ph type="pic" idx="2"/>
          </p:nvPr>
        </p:nvSpPr>
        <p:spPr>
          <a:xfrm>
            <a:off x="640080" y="1417320"/>
            <a:ext cx="4572000" cy="384048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11" name="Content Right"/>
          <p:cNvSpPr>
            <a:spLocks noGrp="1"/>
          </p:cNvSpPr>
          <p:nvPr>
            <p:ph idx="1"/>
          </p:nvPr>
        </p:nvSpPr>
        <p:spPr>
          <a:xfrm>
            <a:off x="5486400" y="1417320"/>
            <a:ext cx="5806440" cy="4114800"/>
          </a:xfrm>
          <a:prstGeom prst="rect">
            <a:avLst/>
          </a:prstGeom>
        </p:spPr>
        <p:txBody>
          <a:bodyPr wrap="square" rtlCol="0"/>
          <a:lstStyle/>
          <a:p>
            <a:r>
              <a:rPr lang="zh-CN" altLang="en-US" sz="1700">
                <a:solidFill>
                  <a:srgbClr val="252F40"/>
                </a:solidFill>
                <a:latin typeface="Microsoft YaHei"/>
                <a:ea typeface="Microsoft YaHei"/>
              </a:rPr>
              <a:t>Content Right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_img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 idx="0"/>
          </p:nvPr>
        </p:nvSpPr>
        <p:spPr>
          <a:xfrm>
            <a:off x="822960" y="502920"/>
            <a:ext cx="8138160" cy="640080"/>
          </a:xfrm>
          <a:prstGeom prst="rect">
            <a:avLst/>
          </a:prstGeom>
        </p:spPr>
        <p:txBody>
          <a:bodyPr wrap="square" rtlCol="0"/>
          <a:lstStyle/>
          <a:p>
            <a:r>
              <a:rPr lang="zh-CN" altLang="en-US" b="1" sz="2800">
                <a:solidFill>
                  <a:srgbClr val="252F40"/>
                </a:solidFill>
                <a:latin typeface="Microsoft YaHei"/>
                <a:ea typeface="Microsoft YaHei"/>
              </a:rPr>
              <a:t>Title</a:t>
            </a:r>
          </a:p>
        </p:txBody>
      </p:sp>
      <p:sp>
        <p:nvSpPr>
          <p:cNvPr id="11" name="Content Left"/>
          <p:cNvSpPr>
            <a:spLocks noGrp="1"/>
          </p:cNvSpPr>
          <p:nvPr>
            <p:ph idx="1"/>
          </p:nvPr>
        </p:nvSpPr>
        <p:spPr>
          <a:xfrm>
            <a:off x="731520" y="1417320"/>
            <a:ext cx="5669280" cy="4114800"/>
          </a:xfrm>
          <a:prstGeom prst="rect">
            <a:avLst/>
          </a:prstGeom>
        </p:spPr>
        <p:txBody>
          <a:bodyPr wrap="square" rtlCol="0"/>
          <a:lstStyle/>
          <a:p>
            <a:r>
              <a:rPr lang="zh-CN" altLang="en-US" sz="1700">
                <a:solidFill>
                  <a:srgbClr val="252F40"/>
                </a:solidFill>
                <a:latin typeface="Microsoft YaHei"/>
                <a:ea typeface="Microsoft YaHei"/>
              </a:rPr>
              <a:t>Content Left</a:t>
            </a:r>
          </a:p>
        </p:txBody>
      </p:sp>
      <p:sp>
        <p:nvSpPr>
          <p:cNvPr id="12" name="Picture Right"/>
          <p:cNvSpPr>
            <a:spLocks noGrp="1"/>
          </p:cNvSpPr>
          <p:nvPr>
            <p:ph type="pic" idx="2"/>
          </p:nvPr>
        </p:nvSpPr>
        <p:spPr>
          <a:xfrm>
            <a:off x="6949440" y="1417320"/>
            <a:ext cx="4572000" cy="384048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 idx="0"/>
          </p:nvPr>
        </p:nvSpPr>
        <p:spPr>
          <a:xfrm>
            <a:off x="822960" y="502920"/>
            <a:ext cx="8138160" cy="640080"/>
          </a:xfrm>
          <a:prstGeom prst="rect">
            <a:avLst/>
          </a:prstGeom>
        </p:spPr>
        <p:txBody>
          <a:bodyPr wrap="square" rtlCol="0"/>
          <a:lstStyle/>
          <a:p>
            <a:r>
              <a:rPr lang="zh-CN" altLang="en-US" b="1" sz="2800">
                <a:solidFill>
                  <a:srgbClr val="252F40"/>
                </a:solidFill>
                <a:latin typeface="Microsoft YaHei"/>
                <a:ea typeface="Microsoft YaHei"/>
              </a:rPr>
              <a:t>Title</a:t>
            </a:r>
          </a:p>
        </p:txBody>
      </p:sp>
      <p:sp>
        <p:nvSpPr>
          <p:cNvPr id="11" name="Summary Body"/>
          <p:cNvSpPr>
            <a:spLocks noGrp="1"/>
          </p:cNvSpPr>
          <p:nvPr>
            <p:ph idx="1"/>
          </p:nvPr>
        </p:nvSpPr>
        <p:spPr>
          <a:xfrm>
            <a:off x="822960" y="1463040"/>
            <a:ext cx="10424160" cy="4572000"/>
          </a:xfrm>
          <a:prstGeom prst="rect">
            <a:avLst/>
          </a:prstGeom>
        </p:spPr>
        <p:txBody>
          <a:bodyPr wrap="square" rtlCol="0"/>
          <a:lstStyle/>
          <a:p>
            <a:r>
              <a:rPr lang="zh-CN" altLang="en-US" sz="1700">
                <a:solidFill>
                  <a:srgbClr val="252F40"/>
                </a:solidFill>
                <a:latin typeface="Microsoft YaHei"/>
                <a:ea typeface="Microsoft YaHei"/>
              </a:rPr>
              <a:t>Summary Body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ctrTitle" idx="0"/>
          </p:nvPr>
        </p:nvSpPr>
        <p:spPr>
          <a:xfrm>
            <a:off x="1097280" y="2011680"/>
            <a:ext cx="9875520" cy="100584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zh-CN" altLang="en-US" b="1" sz="3000">
                <a:solidFill>
                  <a:srgbClr val="252F40"/>
                </a:solidFill>
                <a:latin typeface="Microsoft YaHei"/>
                <a:ea typeface="Microsoft YaHei"/>
              </a:rPr>
              <a:t>Title</a:t>
            </a:r>
          </a:p>
        </p:txBody>
      </p:sp>
      <p:sp>
        <p:nvSpPr>
          <p:cNvPr id="11" name="Subtitle"/>
          <p:cNvSpPr>
            <a:spLocks noGrp="1"/>
          </p:cNvSpPr>
          <p:nvPr>
            <p:ph type="subTitle" idx="1"/>
          </p:nvPr>
        </p:nvSpPr>
        <p:spPr>
          <a:xfrm>
            <a:off x="1463040" y="3154680"/>
            <a:ext cx="9144000" cy="64008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zh-CN" altLang="en-US" sz="1800">
                <a:solidFill>
                  <a:srgbClr val="627089"/>
                </a:solidFill>
                <a:latin typeface="Microsoft YaHei"/>
                <a:ea typeface="Microsoft YaHei"/>
              </a:rPr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hyperlink" Target="http://localhost:5001/api/materials/98/download" TargetMode="Externa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 algn="l">
              <a:defRPr sz="3000" b="1">
                <a:solidFill>
                  <a:srgbClr val="252F40"/>
                </a:solidFill>
                <a:latin typeface="Microsoft YaHei"/>
              </a:defRPr>
            </a:pPr>
            <a:r>
              <a:t>高中化学高阶思维与视频案例探究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l">
              <a:defRPr sz="1800" b="0">
                <a:solidFill>
                  <a:srgbClr val="627089"/>
                </a:solidFill>
                <a:latin typeface="Microsoft YaHei"/>
              </a:defRPr>
            </a:pPr>
            <a:r>
              <a:t>高中/高一/化学 | 第一章 化学反应的热效应 | 90分钟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180015" y="4754880"/>
            <a:ext cx="2468880" cy="2468880"/>
          </a:xfrm>
          <a:prstGeom prst="ellipse">
            <a:avLst/>
          </a:prstGeom>
          <a:solidFill>
            <a:srgbClr val="DCE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774375" y="320040"/>
            <a:ext cx="960120" cy="182880"/>
          </a:xfrm>
          <a:prstGeom prst="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2F40"/>
                </a:solidFill>
                <a:latin typeface="Microsoft YaHei"/>
              </a:defRPr>
            </a:pPr>
            <a:r>
              <a:t>Agenda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713232" cy="493776"/>
          </a:xfrm>
          <a:prstGeom prst="round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627632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52F40"/>
                </a:solidFill>
                <a:latin typeface="Microsoft YaHei"/>
              </a:defRPr>
            </a:pPr>
            <a:r>
              <a:t>视频案例导入与能量现象观察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697480"/>
            <a:ext cx="713232" cy="493776"/>
          </a:xfrm>
          <a:prstGeom prst="round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679192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52F40"/>
                </a:solidFill>
                <a:latin typeface="Microsoft YaHei"/>
              </a:defRPr>
            </a:pPr>
            <a:r>
              <a:t>反应热与焓变的核心定义解析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49039"/>
            <a:ext cx="713232" cy="493776"/>
          </a:xfrm>
          <a:prstGeom prst="round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730752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52F40"/>
                </a:solidFill>
                <a:latin typeface="Microsoft YaHei"/>
              </a:defRPr>
            </a:pPr>
            <a:r>
              <a:t>热化学方程式的书写规范演示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800600"/>
            <a:ext cx="713232" cy="493776"/>
          </a:xfrm>
          <a:prstGeom prst="round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782312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52F40"/>
                </a:solidFill>
                <a:latin typeface="Microsoft YaHei"/>
              </a:defRPr>
            </a:pPr>
            <a:r>
              <a:t>盖斯定律的内容与循环路径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645920"/>
            <a:ext cx="713232" cy="493776"/>
          </a:xfrm>
          <a:prstGeom prst="round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1627632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52F40"/>
                </a:solidFill>
                <a:latin typeface="Microsoft YaHei"/>
              </a:defRPr>
            </a:pPr>
            <a:r>
              <a:t>高难度情境下的逻辑推理训练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697480"/>
            <a:ext cx="713232" cy="493776"/>
          </a:xfrm>
          <a:prstGeom prst="round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679192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52F40"/>
                </a:solidFill>
                <a:latin typeface="Microsoft YaHei"/>
              </a:defRPr>
            </a:pPr>
            <a:r>
              <a:t>课堂限时练习与错题归因分析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749039"/>
            <a:ext cx="713232" cy="493776"/>
          </a:xfrm>
          <a:prstGeom prst="round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730752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52F40"/>
                </a:solidFill>
                <a:latin typeface="Microsoft YaHei"/>
              </a:defRPr>
            </a:pPr>
            <a:r>
              <a:t>常见误区识别与自我修正机制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4800600"/>
            <a:ext cx="713232" cy="493776"/>
          </a:xfrm>
          <a:prstGeom prst="round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782312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52F40"/>
                </a:solidFill>
                <a:latin typeface="Microsoft YaHei"/>
              </a:defRPr>
            </a:pPr>
            <a:r>
              <a:t>思维导图构建与知识体系总结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6400800"/>
            <a:ext cx="10652760" cy="36576"/>
          </a:xfrm>
          <a:prstGeom prst="rect">
            <a:avLst/>
          </a:prstGeom>
          <a:solidFill>
            <a:srgbClr val="DCE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09960" y="61996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D9A"/>
                </a:solidFill>
                <a:latin typeface="Microsoft YaHei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774375" y="320040"/>
            <a:ext cx="960120" cy="182880"/>
          </a:xfrm>
          <a:prstGeom prst="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2F40"/>
                </a:solidFill>
                <a:latin typeface="Microsoft YaHei"/>
              </a:defRPr>
            </a:pPr>
            <a:r>
              <a:t>视频案例导入与能量现象观察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378440" cy="470916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播放《d1f0c5c48999441b828ff1c39db41f1…</a:t>
            </a:r>
          </a:p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提问：视频中反应属于吸热还是放热？依据是什么</a:t>
            </a:r>
          </a:p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记录视频中涉及的关键物质状态及能量变化现象</a:t>
            </a:r>
          </a:p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明确本节课核心任务：快速建立解题模型与原理迁移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6400800"/>
            <a:ext cx="10652760" cy="36576"/>
          </a:xfrm>
          <a:prstGeom prst="rect">
            <a:avLst/>
          </a:prstGeom>
          <a:solidFill>
            <a:srgbClr val="DCE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09960" y="61996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D9A"/>
                </a:solidFill>
                <a:latin typeface="Microsoft YaHe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774375" y="320040"/>
            <a:ext cx="960120" cy="182880"/>
          </a:xfrm>
          <a:prstGeom prst="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2F40"/>
                </a:solidFill>
                <a:latin typeface="Microsoft YaHei"/>
              </a:defRPr>
            </a:pPr>
            <a:r>
              <a:t>反应热与焓变的核心定义解析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378440" cy="470916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依据《化学选修一知识点总结.docx》梳理焓变定义</a:t>
            </a:r>
          </a:p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反应热指恒压条件下化学反应吸收或放出的热量</a:t>
            </a:r>
          </a:p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单位通常为 kJ/mol，注意正负号代表吸放热方向</a:t>
            </a:r>
          </a:p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结合能层符号与序号关系回顾原子结构基础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6400800"/>
            <a:ext cx="10652760" cy="36576"/>
          </a:xfrm>
          <a:prstGeom prst="rect">
            <a:avLst/>
          </a:prstGeom>
          <a:solidFill>
            <a:srgbClr val="DCE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09960" y="61996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D9A"/>
                </a:solidFill>
                <a:latin typeface="Microsoft YaHei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774375" y="320040"/>
            <a:ext cx="960120" cy="182880"/>
          </a:xfrm>
          <a:prstGeom prst="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2F40"/>
                </a:solidFill>
                <a:latin typeface="Microsoft YaHei"/>
              </a:defRPr>
            </a:pPr>
            <a:r>
              <a:t>热化学方程式的书写规范演示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378440" cy="470916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板书演示标准热化学方程式的书写格式与步骤</a:t>
            </a:r>
          </a:p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强调必须标注各物质的聚集状态 g l s aq</a:t>
            </a:r>
          </a:p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计量数表示物质的量，可为整数或分数形式</a:t>
            </a:r>
          </a:p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ΔH 数值与计量数成正比，单位统一为 kJ/mol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6400800"/>
            <a:ext cx="10652760" cy="36576"/>
          </a:xfrm>
          <a:prstGeom prst="rect">
            <a:avLst/>
          </a:prstGeom>
          <a:solidFill>
            <a:srgbClr val="DCE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09960" y="61996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D9A"/>
                </a:solidFill>
                <a:latin typeface="Microsoft YaHei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774375" y="320040"/>
            <a:ext cx="960120" cy="182880"/>
          </a:xfrm>
          <a:prstGeom prst="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2F40"/>
                </a:solidFill>
                <a:latin typeface="Microsoft YaHei"/>
              </a:defRPr>
            </a:pPr>
            <a:r>
              <a:t>盖斯定律的内容与循环路径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378440" cy="470916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盖斯定律指出反应热只与始态和终态有关</a:t>
            </a:r>
          </a:p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与具体反应路径无关，可通过多步反应叠加计算</a:t>
            </a:r>
          </a:p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展示盖斯定律计算的加减消元快速路径示意图</a:t>
            </a:r>
          </a:p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减少无效计算时间，提升复杂情境下的解题效率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6400800"/>
            <a:ext cx="10652760" cy="36576"/>
          </a:xfrm>
          <a:prstGeom prst="rect">
            <a:avLst/>
          </a:prstGeom>
          <a:solidFill>
            <a:srgbClr val="DCE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09960" y="61996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D9A"/>
                </a:solidFill>
                <a:latin typeface="Microsoft YaHei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774375" y="320040"/>
            <a:ext cx="960120" cy="182880"/>
          </a:xfrm>
          <a:prstGeom prst="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2F40"/>
                </a:solidFill>
                <a:latin typeface="Microsoft YaHei"/>
              </a:defRPr>
            </a:pPr>
            <a:r>
              <a:t>高难度情境下的逻辑推理训练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378440" cy="470916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发布一道涉及状态变化和多重盖斯定律应用的综合题</a:t>
            </a:r>
          </a:p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引导学生画出能量变化示意图辅助理解过程</a:t>
            </a:r>
          </a:p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独立审题识别已知条件和待求量并列出方程</a:t>
            </a:r>
          </a:p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巡视课堂针对个别学生的逻辑断点进行提示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6400800"/>
            <a:ext cx="10652760" cy="36576"/>
          </a:xfrm>
          <a:prstGeom prst="rect">
            <a:avLst/>
          </a:prstGeom>
          <a:solidFill>
            <a:srgbClr val="DCE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09960" y="61996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D9A"/>
                </a:solidFill>
                <a:latin typeface="Microsoft YaHei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774375" y="320040"/>
            <a:ext cx="960120" cy="182880"/>
          </a:xfrm>
          <a:prstGeom prst="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2F40"/>
                </a:solidFill>
                <a:latin typeface="Microsoft YaHei"/>
              </a:defRPr>
            </a:pPr>
            <a:r>
              <a:t>课堂限时练习与错题归因分析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378440" cy="470916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发放课堂练习卷设定 5 分钟限时完成三道选择题</a:t>
            </a:r>
          </a:p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投影正确答案邀请学生说明选择理由与依据</a:t>
            </a:r>
          </a:p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针对高频错误点如焓变符号进行二次强调讲解</a:t>
            </a:r>
          </a:p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统计正确率若低于 80% 则进入下一轮针对性讲解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6400800"/>
            <a:ext cx="10652760" cy="36576"/>
          </a:xfrm>
          <a:prstGeom prst="rect">
            <a:avLst/>
          </a:prstGeom>
          <a:solidFill>
            <a:srgbClr val="DCE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09960" y="61996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D9A"/>
                </a:solidFill>
                <a:latin typeface="Microsoft YaHei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774375" y="320040"/>
            <a:ext cx="960120" cy="182880"/>
          </a:xfrm>
          <a:prstGeom prst="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2F40"/>
                </a:solidFill>
                <a:latin typeface="Microsoft YaHei"/>
              </a:defRPr>
            </a:pPr>
            <a:r>
              <a:t>常见误区识别与自我修正机制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378440" cy="470916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回顾学生在焓变符号及能量守恒理解上的误区</a:t>
            </a:r>
          </a:p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区分燃烧热与中和热的测定条件与数值差异</a:t>
            </a:r>
          </a:p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检查是否忽略物质状态对反应热大小的影响</a:t>
            </a:r>
          </a:p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建立个人错题本记录典型错误原因与修正方法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6400800"/>
            <a:ext cx="10652760" cy="36576"/>
          </a:xfrm>
          <a:prstGeom prst="rect">
            <a:avLst/>
          </a:prstGeom>
          <a:solidFill>
            <a:srgbClr val="DCE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09960" y="61996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D9A"/>
                </a:solidFill>
                <a:latin typeface="Microsoft YaHei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774375" y="320040"/>
            <a:ext cx="960120" cy="182880"/>
          </a:xfrm>
          <a:prstGeom prst="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2F40"/>
                </a:solidFill>
                <a:latin typeface="Microsoft YaHei"/>
              </a:defRPr>
            </a:pPr>
            <a:r>
              <a:t>思维导图构建与知识体系总结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378440" cy="470916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师生共同构建本章核心知识点的思维导图结构</a:t>
            </a:r>
          </a:p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回顾本节课建立的解题模型与核心原理要点</a:t>
            </a:r>
          </a:p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结合拓展部分推荐进阶阅读材料供学有余力者</a:t>
            </a:r>
          </a:p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确认所有知识点已覆盖无遗漏且逻辑链条完整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6400800"/>
            <a:ext cx="10652760" cy="36576"/>
          </a:xfrm>
          <a:prstGeom prst="rect">
            <a:avLst/>
          </a:prstGeom>
          <a:solidFill>
            <a:srgbClr val="DCE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09960" y="61996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D9A"/>
                </a:solidFill>
                <a:latin typeface="Microsoft YaHe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774375" y="320040"/>
            <a:ext cx="960120" cy="182880"/>
          </a:xfrm>
          <a:prstGeom prst="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2F40"/>
                </a:solidFill>
                <a:latin typeface="Microsoft YaHei"/>
              </a:defRPr>
            </a:pPr>
            <a:r>
              <a:t>课后作业与分层任务布置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91640"/>
            <a:ext cx="5074920" cy="1463040"/>
          </a:xfrm>
          <a:prstGeom prst="roundRect">
            <a:avLst/>
          </a:prstGeom>
          <a:solidFill>
            <a:srgbClr val="F0F5FC"/>
          </a:solidFill>
          <a:ln>
            <a:solidFill>
              <a:srgbClr val="DCE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700" b="0">
                <a:solidFill>
                  <a:srgbClr val="252F40"/>
                </a:solidFill>
                <a:latin typeface="Microsoft YaHei"/>
              </a:defRPr>
            </a:pPr>
            <a:r>
              <a:t>整理本节课涉及的五个核心热化学方程式并注明状态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91640"/>
            <a:ext cx="5074920" cy="1463040"/>
          </a:xfrm>
          <a:prstGeom prst="roundRect">
            <a:avLst/>
          </a:prstGeom>
          <a:solidFill>
            <a:srgbClr val="F0F5FC"/>
          </a:solidFill>
          <a:ln>
            <a:solidFill>
              <a:srgbClr val="DCE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700" b="0">
                <a:solidFill>
                  <a:srgbClr val="252F40"/>
                </a:solidFill>
                <a:latin typeface="Microsoft YaHei"/>
              </a:defRPr>
            </a:pPr>
            <a:r>
              <a:t>完成教材习题中关于盖斯定律计算的三道变式题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749039"/>
            <a:ext cx="5074920" cy="1463040"/>
          </a:xfrm>
          <a:prstGeom prst="roundRect">
            <a:avLst/>
          </a:prstGeom>
          <a:solidFill>
            <a:srgbClr val="F0F5FC"/>
          </a:solidFill>
          <a:ln>
            <a:solidFill>
              <a:srgbClr val="DCE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700" b="0">
                <a:solidFill>
                  <a:srgbClr val="252F40"/>
                </a:solidFill>
                <a:latin typeface="Microsoft YaHei"/>
              </a:defRPr>
            </a:pPr>
            <a:r>
              <a:t>查阅资料列举生活中两个利用化学反应放热的实例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749039"/>
            <a:ext cx="5074920" cy="1463040"/>
          </a:xfrm>
          <a:prstGeom prst="roundRect">
            <a:avLst/>
          </a:prstGeom>
          <a:solidFill>
            <a:srgbClr val="F0F5FC"/>
          </a:solidFill>
          <a:ln>
            <a:solidFill>
              <a:srgbClr val="DCE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700" b="0">
                <a:solidFill>
                  <a:srgbClr val="252F40"/>
                </a:solidFill>
                <a:latin typeface="Microsoft YaHei"/>
              </a:defRPr>
            </a:pPr>
            <a:r>
              <a:t>思考如果反应过程中伴随气体体积膨胀有何区别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6400800"/>
            <a:ext cx="10652760" cy="36576"/>
          </a:xfrm>
          <a:prstGeom prst="rect">
            <a:avLst/>
          </a:prstGeom>
          <a:solidFill>
            <a:srgbClr val="DCE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09960" y="61996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D9A"/>
                </a:solidFill>
                <a:latin typeface="Microsoft YaHe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774375" y="320040"/>
            <a:ext cx="960120" cy="182880"/>
          </a:xfrm>
          <a:prstGeom prst="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180015" y="4754880"/>
            <a:ext cx="2468880" cy="2468880"/>
          </a:xfrm>
          <a:prstGeom prst="ellipse">
            <a:avLst/>
          </a:prstGeom>
          <a:solidFill>
            <a:srgbClr val="DCE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0292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2F40"/>
                </a:solidFill>
                <a:latin typeface="Microsoft YaHei"/>
              </a:defRPr>
            </a:pPr>
            <a:r>
              <a:t>小游戏入口页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7160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27089"/>
                </a:solidFill>
                <a:latin typeface="Microsoft YaHei"/>
              </a:defRPr>
            </a:pPr>
            <a:r>
              <a:t>扫码或点击链接下载并运行课堂互动小游戏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828800"/>
            <a:ext cx="6583680" cy="3566160"/>
          </a:xfrm>
          <a:prstGeom prst="roundRect">
            <a:avLst/>
          </a:prstGeom>
          <a:solidFill>
            <a:srgbClr val="F0F5FC"/>
          </a:solidFill>
          <a:ln>
            <a:solidFill>
              <a:srgbClr val="DCE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252F40"/>
                </a:solidFill>
                <a:latin typeface="Microsoft YaHei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1097280" y="2148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27089"/>
                </a:solidFill>
                <a:latin typeface="Microsoft YaHei"/>
              </a:defRPr>
            </a:pPr>
            <a:r>
              <a:t>文件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40487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2F40"/>
                </a:solidFill>
                <a:latin typeface="Microsoft YaHei"/>
              </a:defRPr>
            </a:pPr>
            <a:r>
              <a:t>lesson-game_20260604_114002_9693a2.html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063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27089"/>
                </a:solidFill>
                <a:latin typeface="Microsoft YaHei"/>
              </a:defRPr>
            </a:pPr>
            <a:r>
              <a:t>下载链接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346704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863D2"/>
                </a:solidFill>
                <a:latin typeface="Microsoft YaHei"/>
                <a:hlinkClick r:id="rId2"/>
              </a:rPr>
              <a:t>http://localhost:5001/api/materials/98/download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6177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27089"/>
                </a:solidFill>
                <a:latin typeface="Microsoft YaHei"/>
              </a:defRPr>
            </a:pPr>
            <a:r>
              <a:t>教师提示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89204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52F40"/>
                </a:solidFill>
                <a:latin typeface="Microsoft YaHei"/>
              </a:defRPr>
            </a:pPr>
            <a:r>
              <a:t>建议先将 HTML 文件下载到本机，再双击打开进行课堂演示或课后练习。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09560" y="1828800"/>
            <a:ext cx="274320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CE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game_entry_qr_f7aa1b336c5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08" y="1984248"/>
            <a:ext cx="2432304" cy="243230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955279" y="47548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52F40"/>
                </a:solidFill>
                <a:latin typeface="Microsoft YaHei"/>
              </a:defRPr>
            </a:pPr>
            <a:r>
              <a:t>扫码下载小游戏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508406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27089"/>
                </a:solidFill>
                <a:latin typeface="Microsoft YaHei"/>
              </a:defRPr>
            </a:pPr>
            <a:r>
              <a:t>如扫码受限，可直接点击左侧链接。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6400800"/>
            <a:ext cx="10652760" cy="36576"/>
          </a:xfrm>
          <a:prstGeom prst="rect">
            <a:avLst/>
          </a:prstGeom>
          <a:solidFill>
            <a:srgbClr val="DCE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09960" y="61996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D9A"/>
                </a:solidFill>
                <a:latin typeface="Microsoft YaHe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